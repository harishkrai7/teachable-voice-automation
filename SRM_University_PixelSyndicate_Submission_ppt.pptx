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71"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t>30-09-2026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t>‹#›</a:t>
            </a:fld>
            <a:endParaRPr lang="en-IN"/>
          </a:p>
        </p:txBody>
      </p:sp>
    </p:spTree>
    <p:extLst>
      <p:ext uri="{BB962C8B-B14F-4D97-AF65-F5344CB8AC3E}">
        <p14:creationId xmlns:p14="http://schemas.microsoft.com/office/powerpoint/2010/main"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for the 3rd edition of the PRISM Generative AI Hackathon. Replace the SAMSUNG PRISM pill with the official PRISM logo image if you have the asset. Confirm the academic year label (2026-27) before circulating.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project is Teachable Voice Automation for Samsung PRISM 2026–27, Theme 3. A user teaches a task once by speaking a command and performing the taps, and the system reuses it later through natural voice. The user gives a voice command and performs the task once while we observe the UI and capture only the meaningful actions. Cloud then generalizes those actions into a flow with changeable values. Later, the same flow can be replayed from the exact command or a paraphrase. Teach once, generalize, replay.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Traditional automation is a hard-coded script tied to screen coordinates, so it cannot learn a new flow at runtime. In this hackathon the judges teach a new flow live, so we cannot depend on prebaked scripts. Our approach starts from a user demonstration and turns it into a learned, reusable flow. What we store is evidence about what the user interacted with, not where they tapped.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system is split into two engines. Android is the eyes and hands: it reads the UI, records teaching, resolves targets, executes, verifies and enforces safety. Google Cloud is the reasoning layer: voice input, intent and slots, flow generalization, matching, recovery reasoning, storage and APIs. They talk over HTTPS with JSON. The key rule is that the LLM does not directly control the phone: Cloud returns structured instructions, and Android validates and executes them.</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During teaching, the user speaks a command and then performs the taps. Accessibility events and the UI tree let us build a semantic target for each meaningful action; the TeachingRecorder keeps an ordered flow. An example flow is search, select, set quantity, add to cart, open cart. Replay is a loop, not a blind script: Android inspects the current UI, resolves the target, executes, waits for the UI to settle, and verifies the expected state. From there it continues, recovers, or asks the user. (Add the demo video link here or on the checklist slide.)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Android, everything runs through an AccessibilityService, which receives UI events and reads the active window from a third-party app. Google Cloud handles voice, intent and slots, flow generalization, matching, recovery reasoning, storage and APIs. The two communicate over HTTPS with JSON, using a shared contract frozen early. Nothing is app-specific, and we do not use deep links or web fallbacks.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spoken command becomes an intent and slots — for example order_food, restaurant Dominos, item Margherita Pizza, quantity one. The concrete steps taught in the demonstration are generalized into slots for item, restaurant and quantity, so one learned flow accepts changed values. Whenever automation reaches payment, OTP, password, PIN or any authentication screen, it stops and the user takes control; we never store credentials, OTPs or payment details.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where we stand. The Android foundation is in place: the accessibility service, UI tree inspection, click detection, semantic targets, teaching actions, the recorder and sensitive-field protection. Still ahead are reliable replay, multi-step flows, UI recovery, cloud integration, paraphrases, parameter substitution, a multi-app demo and end-to-end evaluation. This is our plan, not a claim of completion. If replay is genuinely stuck, it reports the exact step instead of looping.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our plan, not a claim of completion. The Android track runs from UI tree, to semantic click, replay, multi-step flows, handling UI changes, safety, and finally consuming a JSON plan from Cloud. The Cloud track runs from the API contract, to intent and slots, generalization, matching, recovery, and deployment. Together they deliver the full loop: teach, learn, generalize, replay, recover, and execute safely.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sets us apart: flows are taught live rather than prebaked; targets are semantic rather than coordinates; the LLM never controls the phone directly; replay is a verified loop that recovers instead of blind tapping; safety is a hard boundary at payment, OTP, password, PIN and authentication screens; and one learned flow accepts changed values.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34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t>‹#›</a:t>
            </a:fld>
            <a:endParaRPr lang="en-IN"/>
          </a:p>
        </p:txBody>
      </p:sp>
    </p:spTree>
    <p:extLst>
      <p:ext uri="{BB962C8B-B14F-4D97-AF65-F5344CB8AC3E}">
        <p14:creationId xmlns:p14="http://schemas.microsoft.com/office/powerpoint/2010/main"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txBody>
          <a:bodyPr/>
          <a:lstStyle/>
          <a:p>
            <a:endParaRPr/>
          </a:p>
        </p:txBody>
      </p:sp>
      <p:sp>
        <p:nvSpPr>
          <p:cNvPr id="3" name="Text 1"/>
          <p:cNvSpPr txBox="1"/>
          <p:nvPr/>
        </p:nvSpPr>
        <p:spPr>
          <a:xfrm>
            <a:off x="777240" y="676656"/>
            <a:ext cx="2423160" cy="347472"/>
          </a:xfrm>
          <a:prstGeom prst="rect">
            <a:avLst/>
          </a:prstGeom>
          <a:noFill/>
          <a:ln/>
        </p:spPr>
        <p:txBody>
          <a:bodyPr wrap="square" lIns="0" tIns="0" rIns="0" bIns="0" rtlCol="0" anchor="ctr"/>
          <a:lstStyle/>
          <a:p>
            <a:pPr marL="0" indent="0" algn="ctr">
              <a:buNone/>
            </a:pPr>
            <a:r>
              <a:rPr lang="en-US" sz="1100" b="1" kern="0" spc="110" dirty="0">
                <a:solidFill>
                  <a:srgbClr val="6D28D9"/>
                </a:solidFill>
                <a:latin typeface="Arial" pitchFamily="34" charset="0"/>
                <a:ea typeface="Arial" pitchFamily="34" charset="-122"/>
                <a:cs typeface="Arial" pitchFamily="34" charset="-120"/>
              </a:rPr>
              <a:t>SAMSUNG PRISM</a:t>
            </a:r>
            <a:endParaRPr lang="en-US" sz="1100" dirty="0"/>
          </a:p>
        </p:txBody>
      </p:sp>
      <p:sp>
        <p:nvSpPr>
          <p:cNvPr id="4" name="Text 2"/>
          <p:cNvSpPr txBox="1"/>
          <p:nvPr/>
        </p:nvSpPr>
        <p:spPr>
          <a:xfrm>
            <a:off x="777240" y="1207008"/>
            <a:ext cx="6126480" cy="749808"/>
          </a:xfrm>
          <a:prstGeom prst="rect">
            <a:avLst/>
          </a:prstGeom>
          <a:noFill/>
          <a:ln/>
        </p:spPr>
        <p:txBody>
          <a:bodyPr wrap="square" lIns="0" tIns="0" rIns="0" bIns="0" rtlCol="0" anchor="ctr"/>
          <a:lstStyle/>
          <a:p>
            <a:pPr marL="0" indent="0">
              <a:buNone/>
            </a:pPr>
            <a:r>
              <a:rPr lang="en-US" sz="5000" b="1" dirty="0">
                <a:solidFill>
                  <a:srgbClr val="14142B"/>
                </a:solidFill>
                <a:latin typeface="Arial" pitchFamily="34" charset="0"/>
                <a:ea typeface="Arial" pitchFamily="34" charset="-122"/>
                <a:cs typeface="Arial" pitchFamily="34" charset="-120"/>
              </a:rPr>
              <a:t>Generative AI</a:t>
            </a:r>
            <a:endParaRPr lang="en-US" sz="5000" dirty="0"/>
          </a:p>
        </p:txBody>
      </p:sp>
      <p:sp>
        <p:nvSpPr>
          <p:cNvPr id="5" name="Text 3"/>
          <p:cNvSpPr txBox="1"/>
          <p:nvPr/>
        </p:nvSpPr>
        <p:spPr>
          <a:xfrm>
            <a:off x="777240" y="1901952"/>
            <a:ext cx="6126480" cy="749808"/>
          </a:xfrm>
          <a:prstGeom prst="rect">
            <a:avLst/>
          </a:prstGeom>
          <a:noFill/>
          <a:ln/>
        </p:spPr>
        <p:txBody>
          <a:bodyPr wrap="square" lIns="0" tIns="0" rIns="0" bIns="0" rtlCol="0" anchor="ctr"/>
          <a:lstStyle/>
          <a:p>
            <a:pPr marL="0" indent="0">
              <a:buNone/>
            </a:pPr>
            <a:r>
              <a:rPr lang="en-US" sz="5000" b="1" dirty="0">
                <a:solidFill>
                  <a:srgbClr val="6D28D9"/>
                </a:solidFill>
                <a:latin typeface="Arial" pitchFamily="34" charset="0"/>
                <a:ea typeface="Arial" pitchFamily="34" charset="-122"/>
                <a:cs typeface="Arial" pitchFamily="34" charset="-120"/>
              </a:rPr>
              <a:t>Hackathon</a:t>
            </a:r>
            <a:endParaRPr lang="en-US" sz="5000" dirty="0"/>
          </a:p>
        </p:txBody>
      </p:sp>
      <p:sp>
        <p:nvSpPr>
          <p:cNvPr id="6" name="Text 4"/>
          <p:cNvSpPr txBox="1"/>
          <p:nvPr/>
        </p:nvSpPr>
        <p:spPr>
          <a:xfrm>
            <a:off x="777240" y="2724912"/>
            <a:ext cx="6126480" cy="457200"/>
          </a:xfrm>
          <a:prstGeom prst="rect">
            <a:avLst/>
          </a:prstGeom>
          <a:noFill/>
          <a:ln/>
        </p:spPr>
        <p:txBody>
          <a:bodyPr wrap="square" lIns="0" tIns="0" rIns="0" bIns="0" rtlCol="0" anchor="ctr"/>
          <a:lstStyle/>
          <a:p>
            <a:pPr marL="0" indent="0">
              <a:buNone/>
            </a:pPr>
            <a:r>
              <a:rPr lang="en-US" sz="2500" b="1" dirty="0">
                <a:solidFill>
                  <a:srgbClr val="14142B"/>
                </a:solidFill>
                <a:latin typeface="Arial" pitchFamily="34" charset="0"/>
                <a:ea typeface="Arial" pitchFamily="34" charset="-122"/>
                <a:cs typeface="Arial" pitchFamily="34" charset="-120"/>
              </a:rPr>
              <a:t>3rd Edition</a:t>
            </a:r>
            <a:r>
              <a:rPr lang="en-US" sz="2000" dirty="0">
                <a:solidFill>
                  <a:srgbClr val="63637E"/>
                </a:solidFill>
                <a:latin typeface="Calibri" pitchFamily="34" charset="0"/>
                <a:ea typeface="Calibri" pitchFamily="34" charset="-122"/>
                <a:cs typeface="Calibri" pitchFamily="34" charset="-120"/>
              </a:rPr>
              <a:t>   2026 – 27</a:t>
            </a:r>
            <a:endParaRPr lang="en-US" sz="2500" dirty="0"/>
          </a:p>
        </p:txBody>
      </p:sp>
      <p:sp>
        <p:nvSpPr>
          <p:cNvPr id="7" name="Text 5"/>
          <p:cNvSpPr txBox="1"/>
          <p:nvPr/>
        </p:nvSpPr>
        <p:spPr>
          <a:xfrm>
            <a:off x="777240" y="3310128"/>
            <a:ext cx="5852160" cy="3034688"/>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Theme ID - 3 (Teachable Voice Automation)</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Team Name - </a:t>
            </a:r>
            <a:r>
              <a:rPr lang="en-US" sz="1600" dirty="0" err="1">
                <a:solidFill>
                  <a:srgbClr val="63637E"/>
                </a:solidFill>
                <a:latin typeface="Calibri" pitchFamily="34" charset="0"/>
                <a:ea typeface="Calibri" pitchFamily="34" charset="-122"/>
                <a:cs typeface="Calibri" pitchFamily="34" charset="-120"/>
              </a:rPr>
              <a:t>PixelSyndicate</a:t>
            </a:r>
            <a:endParaRPr lang="en-US" sz="1400" dirty="0">
              <a:solidFill>
                <a:srgbClr val="63637E"/>
              </a:solidFill>
              <a:latin typeface="Calibri" pitchFamily="34" charset="0"/>
              <a:ea typeface="Calibri" pitchFamily="34" charset="-122"/>
              <a:cs typeface="Calibri" pitchFamily="34" charset="-120"/>
            </a:endParaRP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College Name – SRM University </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Member Name &amp; Email 1- cm5253@srmist.edu.in</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Member Name &amp; Email 2- pr5096@srmist.edu.in</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Member Name &amp; Email 3-  nk9317@srmist.edu.in</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Member Name &amp; Email 4- hr6007@srmist.edu.in</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Submission </a:t>
            </a:r>
            <a:r>
              <a:rPr lang="en-US" sz="1600" dirty="0" err="1">
                <a:solidFill>
                  <a:srgbClr val="63637E"/>
                </a:solidFill>
                <a:latin typeface="Calibri" pitchFamily="34" charset="0"/>
                <a:ea typeface="Calibri" pitchFamily="34" charset="-122"/>
                <a:cs typeface="Calibri" pitchFamily="34" charset="-120"/>
              </a:rPr>
              <a:t>Github</a:t>
            </a:r>
            <a:r>
              <a:rPr lang="en-US" sz="1600" dirty="0">
                <a:solidFill>
                  <a:srgbClr val="63637E"/>
                </a:solidFill>
                <a:latin typeface="Calibri" pitchFamily="34" charset="0"/>
                <a:ea typeface="Calibri" pitchFamily="34" charset="-122"/>
                <a:cs typeface="Calibri" pitchFamily="34" charset="-120"/>
              </a:rPr>
              <a:t> link - https://github.com/Harishkrai7/teachable-voice-automation.git</a:t>
            </a:r>
          </a:p>
          <a:p>
            <a:pPr marL="177800" indent="-177800">
              <a:spcAft>
                <a:spcPts val="500"/>
              </a:spcAft>
              <a:buSzPct val="100000"/>
              <a:buChar char="•"/>
            </a:pPr>
            <a:endParaRPr lang="en-US" sz="1600" dirty="0">
              <a:solidFill>
                <a:srgbClr val="63637E"/>
              </a:solidFill>
              <a:latin typeface="Calibri" pitchFamily="34" charset="0"/>
              <a:ea typeface="Calibri" pitchFamily="34" charset="-122"/>
              <a:cs typeface="Calibri" pitchFamily="34" charset="-120"/>
            </a:endParaRPr>
          </a:p>
        </p:txBody>
      </p:sp>
      <p:pic>
        <p:nvPicPr>
          <p:cNvPr id="14" name="Image 0" descr="hero_network.png"/>
          <p:cNvPicPr>
            <a:picLocks noChangeAspect="1"/>
          </p:cNvPicPr>
          <p:nvPr/>
        </p:nvPicPr>
        <p:blipFill>
          <a:blip r:embed="rId3"/>
          <a:stretch>
            <a:fillRect/>
          </a:stretch>
        </p:blipFill>
        <p:spPr>
          <a:xfrm>
            <a:off x="7059168" y="1051560"/>
            <a:ext cx="457200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Theme</a:t>
            </a:r>
          </a:p>
        </p:txBody>
      </p:sp>
      <p:sp>
        <p:nvSpPr>
          <p:cNvPr id="101" name="Shape 101"/>
          <p:cNvSpPr/>
          <p:nvPr/>
        </p:nvSpPr>
        <p:spPr>
          <a:xfrm>
            <a:off x="838505" y="1691640"/>
            <a:ext cx="6400800" cy="1371600"/>
          </a:xfrm>
          <a:prstGeom prst="roundRect">
            <a:avLst>
              <a:gd name="adj" fmla="val 8000"/>
            </a:avLst>
          </a:prstGeom>
          <a:solidFill>
            <a:srgbClr val="F3EFFC"/>
          </a:solidFill>
          <a:ln w="12700">
            <a:solidFill>
              <a:srgbClr val="D9D3F0"/>
            </a:solidFill>
          </a:ln>
        </p:spPr>
        <p:txBody>
          <a:bodyPr wrap="square" lIns="228600" tIns="137160" rIns="228600" bIns="137160" rtlCol="0" anchor="ctr">
            <a:normAutofit/>
          </a:bodyPr>
          <a:lstStyle/>
          <a:p>
            <a:pPr marL="0" indent="0" algn="l">
              <a:spcAft>
                <a:spcPts val="400"/>
              </a:spcAft>
              <a:buNone/>
            </a:pPr>
            <a:r>
              <a:rPr lang="en-US" sz="3000" b="1" i="0" dirty="0">
                <a:solidFill>
                  <a:srgbClr val="6D28D9"/>
                </a:solidFill>
                <a:latin typeface="Calibri"/>
                <a:cs typeface="Calibri"/>
              </a:rPr>
              <a:t>Teachable Voice Automation</a:t>
            </a:r>
            <a:endParaRPr lang="en-US" sz="3000" dirty="0"/>
          </a:p>
          <a:p>
            <a:pPr marL="0" indent="0" algn="l">
              <a:spcAft>
                <a:spcPts val="0"/>
              </a:spcAft>
              <a:buNone/>
            </a:pPr>
            <a:r>
              <a:rPr lang="en-US" sz="1600" b="0" i="0" dirty="0">
                <a:solidFill>
                  <a:srgbClr val="63637E"/>
                </a:solidFill>
                <a:latin typeface="Calibri"/>
                <a:cs typeface="Calibri"/>
              </a:rPr>
              <a:t>Teaching once. Automating intelligently. Replaying safely.</a:t>
            </a:r>
            <a:endParaRPr lang="en-US" sz="1600" dirty="0"/>
          </a:p>
        </p:txBody>
      </p:sp>
      <p:sp>
        <p:nvSpPr>
          <p:cNvPr id="102" name="Shape 102"/>
          <p:cNvSpPr/>
          <p:nvPr/>
        </p:nvSpPr>
        <p:spPr>
          <a:xfrm>
            <a:off x="7422185" y="1691640"/>
            <a:ext cx="3931920" cy="1371600"/>
          </a:xfrm>
          <a:prstGeom prst="roundRect">
            <a:avLst>
              <a:gd name="adj" fmla="val 8000"/>
            </a:avLst>
          </a:prstGeom>
          <a:solidFill>
            <a:srgbClr val="6D28D9"/>
          </a:solidFill>
          <a:ln>
            <a:noFill/>
          </a:ln>
        </p:spPr>
        <p:txBody>
          <a:bodyPr wrap="square" lIns="228600" tIns="137160" rIns="228600" bIns="137160" rtlCol="0" anchor="ctr">
            <a:normAutofit/>
          </a:bodyPr>
          <a:lstStyle/>
          <a:p>
            <a:pPr marL="0" indent="0" algn="l">
              <a:spcAft>
                <a:spcPts val="0"/>
              </a:spcAft>
              <a:buNone/>
            </a:pPr>
            <a:r>
              <a:rPr lang="en-US" sz="2000" b="0" i="1" dirty="0">
                <a:solidFill>
                  <a:srgbClr val="FFFFFF"/>
                </a:solidFill>
                <a:latin typeface="Calibri"/>
                <a:cs typeface="Calibri"/>
              </a:rPr>
              <a:t>“Teach a task once. Reuse it through natural voice.”</a:t>
            </a:r>
            <a:endParaRPr lang="en-US" sz="2000" dirty="0"/>
          </a:p>
        </p:txBody>
      </p:sp>
      <p:sp>
        <p:nvSpPr>
          <p:cNvPr id="103" name="Shape 103"/>
          <p:cNvSpPr/>
          <p:nvPr/>
        </p:nvSpPr>
        <p:spPr>
          <a:xfrm>
            <a:off x="838505" y="3337560"/>
            <a:ext cx="3200400" cy="2011680"/>
          </a:xfrm>
          <a:prstGeom prst="roundRect">
            <a:avLst>
              <a:gd name="adj" fmla="val 5000"/>
            </a:avLst>
          </a:prstGeom>
          <a:solidFill>
            <a:srgbClr val="F3EFFC"/>
          </a:solidFill>
          <a:ln w="12700">
            <a:solidFill>
              <a:srgbClr val="D9D3F0"/>
            </a:solidFill>
          </a:ln>
        </p:spPr>
        <p:txBody>
          <a:bodyPr wrap="square" lIns="164592" tIns="98755" rIns="164592" bIns="98755" rtlCol="0" anchor="t">
            <a:normAutofit/>
          </a:bodyPr>
          <a:lstStyle/>
          <a:p>
            <a:pPr marL="0" indent="0" algn="l">
              <a:spcAft>
                <a:spcPts val="300"/>
              </a:spcAft>
              <a:buNone/>
            </a:pPr>
            <a:r>
              <a:rPr lang="en-US" sz="1100" b="1" i="0" spc="100" dirty="0">
                <a:solidFill>
                  <a:srgbClr val="6D28D9"/>
                </a:solidFill>
                <a:latin typeface="Calibri"/>
                <a:cs typeface="Calibri"/>
              </a:rPr>
              <a:t>TEACH</a:t>
            </a:r>
            <a:endParaRPr lang="en-US" sz="1100" dirty="0"/>
          </a:p>
          <a:p>
            <a:pPr marL="0" indent="0" algn="l">
              <a:spcAft>
                <a:spcPts val="600"/>
              </a:spcAft>
              <a:buNone/>
            </a:pPr>
            <a:r>
              <a:rPr lang="en-US" sz="1800" b="1" i="0" dirty="0">
                <a:solidFill>
                  <a:srgbClr val="14142B"/>
                </a:solidFill>
                <a:latin typeface="Calibri"/>
                <a:cs typeface="Calibri"/>
              </a:rPr>
              <a:t>Voice Command + User Demonstration</a:t>
            </a:r>
            <a:endParaRPr lang="en-US" sz="1800" dirty="0"/>
          </a:p>
          <a:p>
            <a:pPr marL="0" indent="0" algn="l">
              <a:spcAft>
                <a:spcPts val="0"/>
              </a:spcAft>
              <a:buNone/>
            </a:pPr>
            <a:r>
              <a:rPr lang="en-US" sz="1400" b="0" i="0" dirty="0">
                <a:solidFill>
                  <a:srgbClr val="63637E"/>
                </a:solidFill>
                <a:latin typeface="Calibri"/>
                <a:cs typeface="Calibri"/>
              </a:rPr>
              <a:t>Observe the UI and capture only the meaningful actions.</a:t>
            </a:r>
            <a:endParaRPr lang="en-US" sz="1400" dirty="0"/>
          </a:p>
        </p:txBody>
      </p:sp>
      <p:cxnSp>
        <p:nvCxnSpPr>
          <p:cNvPr id="104" name="Arrow 104"/>
          <p:cNvCxnSpPr/>
          <p:nvPr/>
        </p:nvCxnSpPr>
        <p:spPr>
          <a:xfrm>
            <a:off x="4112057" y="4343400"/>
            <a:ext cx="310896" cy="0"/>
          </a:xfrm>
          <a:prstGeom prst="line">
            <a:avLst/>
          </a:prstGeom>
          <a:ln w="22225">
            <a:solidFill>
              <a:srgbClr val="6D28D9"/>
            </a:solidFill>
            <a:tailEnd type="triangle"/>
          </a:ln>
        </p:spPr>
      </p:cxnSp>
      <p:sp>
        <p:nvSpPr>
          <p:cNvPr id="105" name="Shape 105"/>
          <p:cNvSpPr/>
          <p:nvPr/>
        </p:nvSpPr>
        <p:spPr>
          <a:xfrm>
            <a:off x="4496105" y="3337560"/>
            <a:ext cx="3200400" cy="2011680"/>
          </a:xfrm>
          <a:prstGeom prst="roundRect">
            <a:avLst>
              <a:gd name="adj" fmla="val 5000"/>
            </a:avLst>
          </a:prstGeom>
          <a:solidFill>
            <a:srgbClr val="F3EFFC"/>
          </a:solidFill>
          <a:ln w="12700">
            <a:solidFill>
              <a:srgbClr val="D9D3F0"/>
            </a:solidFill>
          </a:ln>
        </p:spPr>
        <p:txBody>
          <a:bodyPr wrap="square" lIns="164592" tIns="98755" rIns="164592" bIns="98755" rtlCol="0" anchor="t">
            <a:normAutofit/>
          </a:bodyPr>
          <a:lstStyle/>
          <a:p>
            <a:pPr marL="0" indent="0" algn="l">
              <a:spcAft>
                <a:spcPts val="300"/>
              </a:spcAft>
              <a:buNone/>
            </a:pPr>
            <a:r>
              <a:rPr lang="en-US" sz="1100" b="1" i="0" spc="100" dirty="0">
                <a:solidFill>
                  <a:srgbClr val="6D28D9"/>
                </a:solidFill>
                <a:latin typeface="Calibri"/>
                <a:cs typeface="Calibri"/>
              </a:rPr>
              <a:t>GENERALIZE</a:t>
            </a:r>
            <a:endParaRPr lang="en-US" sz="1100" dirty="0"/>
          </a:p>
          <a:p>
            <a:pPr marL="0" indent="0" algn="l">
              <a:spcAft>
                <a:spcPts val="600"/>
              </a:spcAft>
              <a:buNone/>
            </a:pPr>
            <a:r>
              <a:rPr lang="en-US" sz="1800" b="1" i="0" dirty="0">
                <a:solidFill>
                  <a:srgbClr val="14142B"/>
                </a:solidFill>
                <a:latin typeface="Calibri"/>
                <a:cs typeface="Calibri"/>
              </a:rPr>
              <a:t>Generalize Flow</a:t>
            </a:r>
            <a:endParaRPr lang="en-US" sz="1800" dirty="0"/>
          </a:p>
          <a:p>
            <a:pPr marL="0" indent="0" algn="l">
              <a:spcAft>
                <a:spcPts val="0"/>
              </a:spcAft>
              <a:buNone/>
            </a:pPr>
            <a:r>
              <a:rPr lang="en-US" sz="1400" b="0" i="0" dirty="0">
                <a:solidFill>
                  <a:srgbClr val="63637E"/>
                </a:solidFill>
                <a:latin typeface="Calibri"/>
                <a:cs typeface="Calibri"/>
              </a:rPr>
              <a:t>Cloud infers which values are slots and which steps stay fixed.</a:t>
            </a:r>
            <a:endParaRPr lang="en-US" sz="1400" dirty="0"/>
          </a:p>
        </p:txBody>
      </p:sp>
      <p:cxnSp>
        <p:nvCxnSpPr>
          <p:cNvPr id="106" name="Arrow 106"/>
          <p:cNvCxnSpPr/>
          <p:nvPr/>
        </p:nvCxnSpPr>
        <p:spPr>
          <a:xfrm>
            <a:off x="7769657" y="4343400"/>
            <a:ext cx="310896" cy="0"/>
          </a:xfrm>
          <a:prstGeom prst="line">
            <a:avLst/>
          </a:prstGeom>
          <a:ln w="22225">
            <a:solidFill>
              <a:srgbClr val="6D28D9"/>
            </a:solidFill>
            <a:tailEnd type="triangle"/>
          </a:ln>
        </p:spPr>
      </p:cxnSp>
      <p:sp>
        <p:nvSpPr>
          <p:cNvPr id="107" name="Shape 107"/>
          <p:cNvSpPr/>
          <p:nvPr/>
        </p:nvSpPr>
        <p:spPr>
          <a:xfrm>
            <a:off x="8153705" y="3337560"/>
            <a:ext cx="3200400" cy="2011680"/>
          </a:xfrm>
          <a:prstGeom prst="roundRect">
            <a:avLst>
              <a:gd name="adj" fmla="val 5000"/>
            </a:avLst>
          </a:prstGeom>
          <a:solidFill>
            <a:srgbClr val="F3EFFC"/>
          </a:solidFill>
          <a:ln w="12700">
            <a:solidFill>
              <a:srgbClr val="D9D3F0"/>
            </a:solidFill>
          </a:ln>
        </p:spPr>
        <p:txBody>
          <a:bodyPr wrap="square" lIns="164592" tIns="98755" rIns="164592" bIns="98755" rtlCol="0" anchor="t">
            <a:normAutofit/>
          </a:bodyPr>
          <a:lstStyle/>
          <a:p>
            <a:pPr marL="0" indent="0" algn="l">
              <a:spcAft>
                <a:spcPts val="300"/>
              </a:spcAft>
              <a:buNone/>
            </a:pPr>
            <a:r>
              <a:rPr lang="en-US" sz="1100" b="1" i="0" spc="100" dirty="0">
                <a:solidFill>
                  <a:srgbClr val="6D28D9"/>
                </a:solidFill>
                <a:latin typeface="Calibri"/>
                <a:cs typeface="Calibri"/>
              </a:rPr>
              <a:t>REPLAY</a:t>
            </a:r>
            <a:endParaRPr lang="en-US" sz="1100" dirty="0"/>
          </a:p>
          <a:p>
            <a:pPr marL="0" indent="0" algn="l">
              <a:spcAft>
                <a:spcPts val="600"/>
              </a:spcAft>
              <a:buNone/>
            </a:pPr>
            <a:r>
              <a:rPr lang="en-US" sz="1800" b="1" i="0" dirty="0">
                <a:solidFill>
                  <a:srgbClr val="14142B"/>
                </a:solidFill>
                <a:latin typeface="Calibri"/>
                <a:cs typeface="Calibri"/>
              </a:rPr>
              <a:t>Exact / Paraphrased Voice</a:t>
            </a:r>
            <a:endParaRPr lang="en-US" sz="1800" dirty="0"/>
          </a:p>
          <a:p>
            <a:pPr marL="0" indent="0" algn="l">
              <a:spcAft>
                <a:spcPts val="0"/>
              </a:spcAft>
              <a:buNone/>
            </a:pPr>
            <a:r>
              <a:rPr lang="en-US" sz="1400" b="0" i="0" dirty="0">
                <a:solidFill>
                  <a:srgbClr val="63637E"/>
                </a:solidFill>
                <a:latin typeface="Calibri"/>
                <a:cs typeface="Calibri"/>
              </a:rPr>
              <a:t>The same learned flow runs again, with changed values if needed.</a:t>
            </a:r>
            <a:endParaRPr lang="en-US" sz="1400" dirty="0"/>
          </a:p>
        </p:txBody>
      </p:sp>
      <p:sp>
        <p:nvSpPr>
          <p:cNvPr id="108" name="Shape 108"/>
          <p:cNvSpPr txBox="1"/>
          <p:nvPr/>
        </p:nvSpPr>
        <p:spPr>
          <a:xfrm>
            <a:off x="838505" y="5577840"/>
            <a:ext cx="10515600" cy="502920"/>
          </a:xfrm>
          <a:prstGeom prst="rect">
            <a:avLst/>
          </a:prstGeom>
          <a:noFill/>
          <a:ln>
            <a:noFill/>
          </a:ln>
        </p:spPr>
        <p:txBody>
          <a:bodyPr wrap="square" lIns="109728" tIns="65837" rIns="109728" bIns="65837" rtlCol="0" anchor="ctr">
            <a:normAutofit/>
          </a:bodyPr>
          <a:lstStyle/>
          <a:p>
            <a:pPr marL="0" indent="0" algn="ctr">
              <a:spcAft>
                <a:spcPts val="0"/>
              </a:spcAft>
              <a:buNone/>
            </a:pPr>
            <a:r>
              <a:rPr lang="en-US" sz="1800" b="1" i="0" dirty="0">
                <a:solidFill>
                  <a:srgbClr val="6D28D9"/>
                </a:solidFill>
                <a:latin typeface="Calibri"/>
                <a:cs typeface="Calibri"/>
              </a:rPr>
              <a:t>Teach once  →  Generalize  →  Replay</a:t>
            </a:r>
            <a:r>
              <a:rPr lang="en-US" sz="1400" b="0" i="0" dirty="0">
                <a:solidFill>
                  <a:srgbClr val="63637E"/>
                </a:solidFill>
                <a:latin typeface="Calibri"/>
                <a:cs typeface="Calibri"/>
              </a:rPr>
              <a:t>     Taught live by the user — no prebaked scripts.</a:t>
            </a:r>
            <a:endParaRPr lang="en-US" sz="1800" dirty="0"/>
          </a:p>
        </p:txBody>
      </p:sp>
    </p:spTree>
    <p:extLst>
      <p:ext uri="{BB962C8B-B14F-4D97-AF65-F5344CB8AC3E}">
        <p14:creationId xmlns:p14="http://schemas.microsoft.com/office/powerpoint/2010/main" val="25647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Existing Solutions &amp; Gaps</a:t>
            </a:r>
          </a:p>
        </p:txBody>
      </p:sp>
      <p:sp>
        <p:nvSpPr>
          <p:cNvPr id="101" name="Shape 101"/>
          <p:cNvSpPr/>
          <p:nvPr/>
        </p:nvSpPr>
        <p:spPr>
          <a:xfrm>
            <a:off x="838505" y="1691640"/>
            <a:ext cx="4846320" cy="3520440"/>
          </a:xfrm>
          <a:prstGeom prst="roundRect">
            <a:avLst>
              <a:gd name="adj" fmla="val 5000"/>
            </a:avLst>
          </a:prstGeom>
          <a:solidFill>
            <a:srgbClr val="F7F7FA"/>
          </a:solidFill>
          <a:ln w="12700">
            <a:solidFill>
              <a:srgbClr val="E2E2EA"/>
            </a:solidFill>
          </a:ln>
        </p:spPr>
        <p:txBody>
          <a:bodyPr wrap="square" lIns="164592" tIns="98755" rIns="164592" bIns="98755" rtlCol="0" anchor="t">
            <a:normAutofit/>
          </a:bodyPr>
          <a:lstStyle/>
          <a:p>
            <a:pPr marL="0" indent="0" algn="l">
              <a:spcAft>
                <a:spcPts val="300"/>
              </a:spcAft>
              <a:buNone/>
            </a:pPr>
            <a:r>
              <a:rPr lang="en-US" sz="1100" b="1" i="0" spc="100" dirty="0">
                <a:solidFill>
                  <a:srgbClr val="6D28D9"/>
                </a:solidFill>
                <a:latin typeface="Calibri"/>
                <a:cs typeface="Calibri"/>
              </a:rPr>
              <a:t>TRADITIONAL</a:t>
            </a:r>
            <a:endParaRPr lang="en-US" sz="1100" dirty="0"/>
          </a:p>
          <a:p>
            <a:pPr marL="0" indent="0" algn="l">
              <a:spcAft>
                <a:spcPts val="600"/>
              </a:spcAft>
              <a:buNone/>
            </a:pPr>
            <a:r>
              <a:rPr lang="en-US" sz="2600" b="1" i="0" dirty="0">
                <a:solidFill>
                  <a:srgbClr val="14142B"/>
                </a:solidFill>
                <a:latin typeface="Calibri"/>
                <a:cs typeface="Calibri"/>
              </a:rPr>
              <a:t>Fixed Script</a:t>
            </a:r>
            <a:endParaRPr lang="en-US" sz="2600" dirty="0"/>
          </a:p>
          <a:p>
            <a:pPr marL="228600" indent="-228600" algn="l">
              <a:spcAft>
                <a:spcPts val="400"/>
              </a:spcAft>
              <a:buClr>
                <a:srgbClr val="6D28D9"/>
              </a:buClr>
              <a:buFont typeface="Arial"/>
              <a:buChar char="•"/>
            </a:pPr>
            <a:r>
              <a:rPr lang="en-US" sz="2200" b="0" i="0" dirty="0">
                <a:solidFill>
                  <a:srgbClr val="63637E"/>
                </a:solidFill>
                <a:latin typeface="Calibri"/>
                <a:cs typeface="Calibri"/>
              </a:rPr>
              <a:t>Hard-coded steps</a:t>
            </a:r>
            <a:endParaRPr lang="en-US" sz="2200" dirty="0"/>
          </a:p>
          <a:p>
            <a:pPr marL="228600" indent="-228600" algn="l">
              <a:spcAft>
                <a:spcPts val="400"/>
              </a:spcAft>
              <a:buClr>
                <a:srgbClr val="6D28D9"/>
              </a:buClr>
              <a:buFont typeface="Arial"/>
              <a:buChar char="•"/>
            </a:pPr>
            <a:r>
              <a:rPr lang="en-US" sz="2200" b="0" i="0" dirty="0">
                <a:solidFill>
                  <a:srgbClr val="63637E"/>
                </a:solidFill>
                <a:latin typeface="Calibri"/>
                <a:cs typeface="Calibri"/>
              </a:rPr>
              <a:t>Tied to screen coordinates</a:t>
            </a:r>
            <a:endParaRPr lang="en-US" sz="2200" dirty="0"/>
          </a:p>
          <a:p>
            <a:pPr marL="228600" indent="-228600" algn="l">
              <a:spcAft>
                <a:spcPts val="400"/>
              </a:spcAft>
              <a:buClr>
                <a:srgbClr val="6D28D9"/>
              </a:buClr>
              <a:buFont typeface="Arial"/>
              <a:buChar char="•"/>
            </a:pPr>
            <a:r>
              <a:rPr lang="en-US" sz="2200" b="0" i="0" dirty="0">
                <a:solidFill>
                  <a:srgbClr val="63637E"/>
                </a:solidFill>
                <a:latin typeface="Calibri"/>
                <a:cs typeface="Calibri"/>
              </a:rPr>
              <a:t>Cannot be taught at runtime</a:t>
            </a:r>
            <a:endParaRPr lang="en-US" sz="2200" dirty="0"/>
          </a:p>
        </p:txBody>
      </p:sp>
      <p:sp>
        <p:nvSpPr>
          <p:cNvPr id="102" name="Shape 102"/>
          <p:cNvSpPr/>
          <p:nvPr/>
        </p:nvSpPr>
        <p:spPr>
          <a:xfrm>
            <a:off x="6507785" y="1691640"/>
            <a:ext cx="4846320" cy="3520440"/>
          </a:xfrm>
          <a:prstGeom prst="roundRect">
            <a:avLst>
              <a:gd name="adj" fmla="val 5000"/>
            </a:avLst>
          </a:prstGeom>
          <a:solidFill>
            <a:srgbClr val="F3EFFC"/>
          </a:solidFill>
          <a:ln w="12700">
            <a:solidFill>
              <a:srgbClr val="D9D3F0"/>
            </a:solidFill>
          </a:ln>
        </p:spPr>
        <p:txBody>
          <a:bodyPr wrap="square" lIns="164592" tIns="98755" rIns="164592" bIns="98755" rtlCol="0" anchor="t">
            <a:normAutofit/>
          </a:bodyPr>
          <a:lstStyle/>
          <a:p>
            <a:pPr marL="0" indent="0" algn="l">
              <a:spcAft>
                <a:spcPts val="300"/>
              </a:spcAft>
              <a:buNone/>
            </a:pPr>
            <a:r>
              <a:rPr lang="en-US" sz="1100" b="1" i="0" spc="100" dirty="0">
                <a:solidFill>
                  <a:srgbClr val="6D28D9"/>
                </a:solidFill>
                <a:latin typeface="Calibri"/>
                <a:cs typeface="Calibri"/>
              </a:rPr>
              <a:t>OUR APPROACH</a:t>
            </a:r>
            <a:endParaRPr lang="en-US" sz="1100" dirty="0"/>
          </a:p>
          <a:p>
            <a:pPr marL="0" indent="0" algn="l">
              <a:spcAft>
                <a:spcPts val="600"/>
              </a:spcAft>
              <a:buNone/>
            </a:pPr>
            <a:r>
              <a:rPr lang="en-US" sz="2600" b="1" i="0" dirty="0">
                <a:solidFill>
                  <a:srgbClr val="14142B"/>
                </a:solidFill>
                <a:latin typeface="Calibri"/>
                <a:cs typeface="Calibri"/>
              </a:rPr>
              <a:t>User Demonstration  →  Learned Reusable Flow</a:t>
            </a:r>
            <a:endParaRPr lang="en-US" sz="2600" dirty="0"/>
          </a:p>
          <a:p>
            <a:pPr marL="228600" indent="-228600" algn="l">
              <a:spcAft>
                <a:spcPts val="400"/>
              </a:spcAft>
              <a:buClr>
                <a:srgbClr val="6D28D9"/>
              </a:buClr>
              <a:buFont typeface="Arial"/>
              <a:buChar char="•"/>
            </a:pPr>
            <a:r>
              <a:rPr lang="en-US" sz="2200" b="0" i="0" dirty="0">
                <a:solidFill>
                  <a:srgbClr val="63637E"/>
                </a:solidFill>
                <a:latin typeface="Calibri"/>
                <a:cs typeface="Calibri"/>
              </a:rPr>
              <a:t>Taught live, by demonstration</a:t>
            </a:r>
            <a:endParaRPr lang="en-US" sz="2200" dirty="0"/>
          </a:p>
          <a:p>
            <a:pPr marL="228600" indent="-228600" algn="l">
              <a:spcAft>
                <a:spcPts val="400"/>
              </a:spcAft>
              <a:buClr>
                <a:srgbClr val="6D28D9"/>
              </a:buClr>
              <a:buFont typeface="Arial"/>
              <a:buChar char="•"/>
            </a:pPr>
            <a:r>
              <a:rPr lang="en-US" sz="2200" b="0" i="0" dirty="0">
                <a:solidFill>
                  <a:srgbClr val="63637E"/>
                </a:solidFill>
                <a:latin typeface="Calibri"/>
                <a:cs typeface="Calibri"/>
              </a:rPr>
              <a:t>Semantic targets, not coordinates</a:t>
            </a:r>
            <a:endParaRPr lang="en-US" sz="2200" dirty="0"/>
          </a:p>
          <a:p>
            <a:pPr marL="228600" indent="-228600" algn="l">
              <a:spcAft>
                <a:spcPts val="400"/>
              </a:spcAft>
              <a:buClr>
                <a:srgbClr val="6D28D9"/>
              </a:buClr>
              <a:buFont typeface="Arial"/>
              <a:buChar char="•"/>
            </a:pPr>
            <a:r>
              <a:rPr lang="en-US" sz="2200" b="0" i="0" dirty="0">
                <a:solidFill>
                  <a:srgbClr val="63637E"/>
                </a:solidFill>
                <a:latin typeface="Calibri"/>
                <a:cs typeface="Calibri"/>
              </a:rPr>
              <a:t>Reused with changed values</a:t>
            </a:r>
            <a:endParaRPr lang="en-US" sz="2200" dirty="0"/>
          </a:p>
        </p:txBody>
      </p:sp>
      <p:sp>
        <p:nvSpPr>
          <p:cNvPr id="103" name="Shape 103"/>
          <p:cNvSpPr/>
          <p:nvPr/>
        </p:nvSpPr>
        <p:spPr>
          <a:xfrm>
            <a:off x="5730545" y="3154680"/>
            <a:ext cx="731520" cy="731520"/>
          </a:xfrm>
          <a:prstGeom prst="ellipse">
            <a:avLst/>
          </a:prstGeom>
          <a:solidFill>
            <a:srgbClr val="6D28D9"/>
          </a:solidFill>
          <a:ln>
            <a:noFill/>
          </a:ln>
        </p:spPr>
        <p:txBody>
          <a:bodyPr wrap="square" lIns="0" tIns="0" rIns="0" bIns="0" rtlCol="0" anchor="ctr">
            <a:normAutofit/>
          </a:bodyPr>
          <a:lstStyle/>
          <a:p>
            <a:pPr marL="0" indent="0" algn="ctr">
              <a:spcAft>
                <a:spcPts val="0"/>
              </a:spcAft>
              <a:buNone/>
            </a:pPr>
            <a:r>
              <a:rPr lang="en-US" sz="1500" b="1" i="0" dirty="0">
                <a:solidFill>
                  <a:srgbClr val="FFFFFF"/>
                </a:solidFill>
                <a:latin typeface="Calibri"/>
                <a:cs typeface="Calibri"/>
              </a:rPr>
              <a:t>VS</a:t>
            </a:r>
            <a:endParaRPr lang="en-US" sz="1500" dirty="0"/>
          </a:p>
        </p:txBody>
      </p:sp>
      <p:sp>
        <p:nvSpPr>
          <p:cNvPr id="104" name="Shape 104"/>
          <p:cNvSpPr/>
          <p:nvPr/>
        </p:nvSpPr>
        <p:spPr>
          <a:xfrm>
            <a:off x="838505" y="5440680"/>
            <a:ext cx="10515600" cy="640080"/>
          </a:xfrm>
          <a:prstGeom prst="roundRect">
            <a:avLst>
              <a:gd name="adj" fmla="val 12000"/>
            </a:avLst>
          </a:prstGeom>
          <a:solidFill>
            <a:srgbClr val="6D28D9"/>
          </a:solidFill>
          <a:ln>
            <a:noFill/>
          </a:ln>
        </p:spPr>
        <p:txBody>
          <a:bodyPr wrap="square" lIns="109728" tIns="65837" rIns="109728" bIns="65837" rtlCol="0" anchor="ctr">
            <a:normAutofit/>
          </a:bodyPr>
          <a:lstStyle/>
          <a:p>
            <a:pPr marL="0" indent="0" algn="ctr">
              <a:spcAft>
                <a:spcPts val="0"/>
              </a:spcAft>
              <a:buNone/>
            </a:pPr>
            <a:r>
              <a:rPr lang="en-US" sz="1800" b="1" i="0" dirty="0">
                <a:solidFill>
                  <a:srgbClr val="FFFFFF"/>
                </a:solidFill>
                <a:latin typeface="Calibri"/>
                <a:cs typeface="Calibri"/>
              </a:rPr>
              <a:t>A semantic flow, not a coordinate macro.</a:t>
            </a:r>
            <a:r>
              <a:rPr lang="en-US" sz="1600" b="0" i="0" dirty="0">
                <a:solidFill>
                  <a:srgbClr val="E9E1FA"/>
                </a:solidFill>
                <a:latin typeface="Calibri"/>
                <a:cs typeface="Calibri"/>
              </a:rPr>
              <a:t>  Flows are taught live, never prebaked.</a:t>
            </a:r>
            <a:endParaRPr lang="en-US" sz="1800" dirty="0"/>
          </a:p>
        </p:txBody>
      </p:sp>
    </p:spTree>
    <p:extLst>
      <p:ext uri="{BB962C8B-B14F-4D97-AF65-F5344CB8AC3E}">
        <p14:creationId xmlns:p14="http://schemas.microsoft.com/office/powerpoint/2010/main" val="15499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909917" y="266513"/>
            <a:ext cx="10515600" cy="1325563"/>
          </a:xfrm>
        </p:spPr>
        <p:txBody>
          <a:bodyPr/>
          <a:lstStyle/>
          <a:p>
            <a:r>
              <a:rPr lang="en-IN" b="1" dirty="0">
                <a:solidFill>
                  <a:srgbClr val="704EA6"/>
                </a:solidFill>
                <a:latin typeface="+mn-lt"/>
              </a:rPr>
              <a:t>Our Solutions &amp; Architecture Diagram</a:t>
            </a:r>
          </a:p>
        </p:txBody>
      </p:sp>
      <p:sp>
        <p:nvSpPr>
          <p:cNvPr id="101" name="Shape 101"/>
          <p:cNvSpPr/>
          <p:nvPr/>
        </p:nvSpPr>
        <p:spPr>
          <a:xfrm>
            <a:off x="838505" y="1691640"/>
            <a:ext cx="4572000" cy="3657600"/>
          </a:xfrm>
          <a:prstGeom prst="roundRect">
            <a:avLst>
              <a:gd name="adj" fmla="val 4000"/>
            </a:avLst>
          </a:prstGeom>
          <a:solidFill>
            <a:srgbClr val="FAF8FE"/>
          </a:solidFill>
          <a:ln w="19050">
            <a:solidFill>
              <a:srgbClr val="6D28D9"/>
            </a:solidFill>
          </a:ln>
        </p:spPr>
        <p:txBody>
          <a:bodyPr wrap="square" lIns="109728" tIns="65837" rIns="109728" bIns="65837" rtlCol="0" anchor="t">
            <a:normAutofit/>
          </a:bodyPr>
          <a:lstStyle/>
          <a:p>
            <a:endParaRPr lang="en-US"/>
          </a:p>
        </p:txBody>
      </p:sp>
      <p:sp>
        <p:nvSpPr>
          <p:cNvPr id="102" name="Shape 102"/>
          <p:cNvSpPr txBox="1"/>
          <p:nvPr/>
        </p:nvSpPr>
        <p:spPr>
          <a:xfrm>
            <a:off x="1112825" y="1783080"/>
            <a:ext cx="4023360" cy="411480"/>
          </a:xfrm>
          <a:prstGeom prst="rect">
            <a:avLst/>
          </a:prstGeom>
          <a:noFill/>
          <a:ln>
            <a:noFill/>
          </a:ln>
        </p:spPr>
        <p:txBody>
          <a:bodyPr wrap="square" lIns="0" tIns="0" rIns="0" bIns="0" rtlCol="0" anchor="ctr">
            <a:normAutofit/>
          </a:bodyPr>
          <a:lstStyle/>
          <a:p>
            <a:pPr marL="0" indent="0" algn="l">
              <a:spcAft>
                <a:spcPts val="0"/>
              </a:spcAft>
              <a:buNone/>
            </a:pPr>
            <a:r>
              <a:rPr lang="en-US" sz="1300" b="1" i="0" spc="100" dirty="0">
                <a:solidFill>
                  <a:srgbClr val="6D28D9"/>
                </a:solidFill>
                <a:latin typeface="Calibri"/>
                <a:cs typeface="Calibri"/>
              </a:rPr>
              <a:t>ANDROID  ·  “EYES + HANDS”</a:t>
            </a:r>
            <a:endParaRPr lang="en-US" sz="1300" dirty="0"/>
          </a:p>
        </p:txBody>
      </p:sp>
      <p:sp>
        <p:nvSpPr>
          <p:cNvPr id="103" name="Shape 103"/>
          <p:cNvSpPr/>
          <p:nvPr/>
        </p:nvSpPr>
        <p:spPr>
          <a:xfrm>
            <a:off x="1112825" y="2286000"/>
            <a:ext cx="1920240" cy="64008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400" b="1" i="0" dirty="0">
                <a:solidFill>
                  <a:srgbClr val="14142B"/>
                </a:solidFill>
                <a:latin typeface="Calibri"/>
                <a:cs typeface="Calibri"/>
              </a:rPr>
              <a:t>AccessibilityService</a:t>
            </a:r>
            <a:endParaRPr lang="en-US" sz="1400" dirty="0"/>
          </a:p>
        </p:txBody>
      </p:sp>
      <p:sp>
        <p:nvSpPr>
          <p:cNvPr id="104" name="Shape 104"/>
          <p:cNvSpPr/>
          <p:nvPr/>
        </p:nvSpPr>
        <p:spPr>
          <a:xfrm>
            <a:off x="3215945" y="2286000"/>
            <a:ext cx="1920240" cy="64008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400" b="1" i="0" dirty="0">
                <a:solidFill>
                  <a:srgbClr val="14142B"/>
                </a:solidFill>
                <a:latin typeface="Calibri"/>
                <a:cs typeface="Calibri"/>
              </a:rPr>
              <a:t>UI Tree Reader</a:t>
            </a:r>
            <a:endParaRPr lang="en-US" sz="1400" dirty="0"/>
          </a:p>
        </p:txBody>
      </p:sp>
      <p:sp>
        <p:nvSpPr>
          <p:cNvPr id="105" name="Shape 105"/>
          <p:cNvSpPr/>
          <p:nvPr/>
        </p:nvSpPr>
        <p:spPr>
          <a:xfrm>
            <a:off x="1112825" y="3035808"/>
            <a:ext cx="1920240" cy="64008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400" b="1" i="0" dirty="0">
                <a:solidFill>
                  <a:srgbClr val="14142B"/>
                </a:solidFill>
                <a:latin typeface="Calibri"/>
                <a:cs typeface="Calibri"/>
              </a:rPr>
              <a:t>Teaching Recorder</a:t>
            </a:r>
            <a:endParaRPr lang="en-US" sz="1400" dirty="0"/>
          </a:p>
        </p:txBody>
      </p:sp>
      <p:sp>
        <p:nvSpPr>
          <p:cNvPr id="106" name="Shape 106"/>
          <p:cNvSpPr/>
          <p:nvPr/>
        </p:nvSpPr>
        <p:spPr>
          <a:xfrm>
            <a:off x="3215945" y="3035808"/>
            <a:ext cx="1920240" cy="64008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400" b="1" i="0" dirty="0">
                <a:solidFill>
                  <a:srgbClr val="14142B"/>
                </a:solidFill>
                <a:latin typeface="Calibri"/>
                <a:cs typeface="Calibri"/>
              </a:rPr>
              <a:t>Target Resolver</a:t>
            </a:r>
            <a:endParaRPr lang="en-US" sz="1400" dirty="0"/>
          </a:p>
        </p:txBody>
      </p:sp>
      <p:sp>
        <p:nvSpPr>
          <p:cNvPr id="107" name="Shape 107"/>
          <p:cNvSpPr/>
          <p:nvPr/>
        </p:nvSpPr>
        <p:spPr>
          <a:xfrm>
            <a:off x="1112825" y="3785616"/>
            <a:ext cx="1920240" cy="64008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400" b="1" i="0" dirty="0">
                <a:solidFill>
                  <a:srgbClr val="14142B"/>
                </a:solidFill>
                <a:latin typeface="Calibri"/>
                <a:cs typeface="Calibri"/>
              </a:rPr>
              <a:t>Action Executor</a:t>
            </a:r>
            <a:endParaRPr lang="en-US" sz="1400" dirty="0"/>
          </a:p>
        </p:txBody>
      </p:sp>
      <p:sp>
        <p:nvSpPr>
          <p:cNvPr id="108" name="Shape 108"/>
          <p:cNvSpPr/>
          <p:nvPr/>
        </p:nvSpPr>
        <p:spPr>
          <a:xfrm>
            <a:off x="3215945" y="3785616"/>
            <a:ext cx="1920240" cy="64008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400" b="1" i="0" dirty="0">
                <a:solidFill>
                  <a:srgbClr val="14142B"/>
                </a:solidFill>
                <a:latin typeface="Calibri"/>
                <a:cs typeface="Calibri"/>
              </a:rPr>
              <a:t>Verification</a:t>
            </a:r>
            <a:endParaRPr lang="en-US" sz="1400" dirty="0"/>
          </a:p>
        </p:txBody>
      </p:sp>
      <p:sp>
        <p:nvSpPr>
          <p:cNvPr id="109" name="Shape 109"/>
          <p:cNvSpPr/>
          <p:nvPr/>
        </p:nvSpPr>
        <p:spPr>
          <a:xfrm>
            <a:off x="1112825" y="4535424"/>
            <a:ext cx="1920240" cy="64008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400" b="1" i="0" dirty="0">
                <a:solidFill>
                  <a:srgbClr val="14142B"/>
                </a:solidFill>
                <a:latin typeface="Calibri"/>
                <a:cs typeface="Calibri"/>
              </a:rPr>
              <a:t>Replay</a:t>
            </a:r>
            <a:endParaRPr lang="en-US" sz="1400" dirty="0"/>
          </a:p>
        </p:txBody>
      </p:sp>
      <p:sp>
        <p:nvSpPr>
          <p:cNvPr id="110" name="Shape 110"/>
          <p:cNvSpPr/>
          <p:nvPr/>
        </p:nvSpPr>
        <p:spPr>
          <a:xfrm>
            <a:off x="3215945" y="4535424"/>
            <a:ext cx="1920240" cy="64008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400" b="1" i="0" dirty="0">
                <a:solidFill>
                  <a:srgbClr val="14142B"/>
                </a:solidFill>
                <a:latin typeface="Calibri"/>
                <a:cs typeface="Calibri"/>
              </a:rPr>
              <a:t>Safety</a:t>
            </a:r>
            <a:endParaRPr lang="en-US" sz="1400" dirty="0"/>
          </a:p>
        </p:txBody>
      </p:sp>
      <p:sp>
        <p:nvSpPr>
          <p:cNvPr id="111" name="Shape 111"/>
          <p:cNvSpPr/>
          <p:nvPr/>
        </p:nvSpPr>
        <p:spPr>
          <a:xfrm>
            <a:off x="6782105" y="1691640"/>
            <a:ext cx="4572000" cy="3657600"/>
          </a:xfrm>
          <a:prstGeom prst="roundRect">
            <a:avLst>
              <a:gd name="adj" fmla="val 4000"/>
            </a:avLst>
          </a:prstGeom>
          <a:solidFill>
            <a:srgbClr val="FAF8FE"/>
          </a:solidFill>
          <a:ln w="19050">
            <a:solidFill>
              <a:srgbClr val="6D28D9"/>
            </a:solidFill>
          </a:ln>
        </p:spPr>
        <p:txBody>
          <a:bodyPr wrap="square" lIns="109728" tIns="65837" rIns="109728" bIns="65837" rtlCol="0" anchor="t">
            <a:normAutofit/>
          </a:bodyPr>
          <a:lstStyle/>
          <a:p>
            <a:endParaRPr lang="en-US"/>
          </a:p>
        </p:txBody>
      </p:sp>
      <p:sp>
        <p:nvSpPr>
          <p:cNvPr id="112" name="Shape 112"/>
          <p:cNvSpPr txBox="1"/>
          <p:nvPr/>
        </p:nvSpPr>
        <p:spPr>
          <a:xfrm>
            <a:off x="7056425" y="1783080"/>
            <a:ext cx="4023360" cy="411480"/>
          </a:xfrm>
          <a:prstGeom prst="rect">
            <a:avLst/>
          </a:prstGeom>
          <a:noFill/>
          <a:ln>
            <a:noFill/>
          </a:ln>
        </p:spPr>
        <p:txBody>
          <a:bodyPr wrap="square" lIns="0" tIns="0" rIns="0" bIns="0" rtlCol="0" anchor="ctr">
            <a:normAutofit/>
          </a:bodyPr>
          <a:lstStyle/>
          <a:p>
            <a:pPr marL="0" indent="0" algn="l">
              <a:spcAft>
                <a:spcPts val="0"/>
              </a:spcAft>
              <a:buNone/>
            </a:pPr>
            <a:r>
              <a:rPr lang="en-US" sz="1300" b="1" i="0" spc="100" dirty="0">
                <a:solidFill>
                  <a:srgbClr val="6D28D9"/>
                </a:solidFill>
                <a:latin typeface="Calibri"/>
                <a:cs typeface="Calibri"/>
              </a:rPr>
              <a:t>GOOGLE CLOUD  ·  “REASONING + INTELLIGENCE”</a:t>
            </a:r>
            <a:endParaRPr lang="en-US" sz="1300" dirty="0"/>
          </a:p>
        </p:txBody>
      </p:sp>
      <p:sp>
        <p:nvSpPr>
          <p:cNvPr id="113" name="Shape 113"/>
          <p:cNvSpPr/>
          <p:nvPr/>
        </p:nvSpPr>
        <p:spPr>
          <a:xfrm>
            <a:off x="7056425" y="2286000"/>
            <a:ext cx="1920240" cy="64008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400" b="1" i="0" dirty="0">
                <a:solidFill>
                  <a:srgbClr val="14142B"/>
                </a:solidFill>
                <a:latin typeface="Calibri"/>
                <a:cs typeface="Calibri"/>
              </a:rPr>
              <a:t>Voice</a:t>
            </a:r>
            <a:endParaRPr lang="en-US" sz="1400" dirty="0"/>
          </a:p>
        </p:txBody>
      </p:sp>
      <p:sp>
        <p:nvSpPr>
          <p:cNvPr id="114" name="Shape 114"/>
          <p:cNvSpPr/>
          <p:nvPr/>
        </p:nvSpPr>
        <p:spPr>
          <a:xfrm>
            <a:off x="9159545" y="2286000"/>
            <a:ext cx="1920240" cy="64008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400" b="1" i="0" dirty="0">
                <a:solidFill>
                  <a:srgbClr val="14142B"/>
                </a:solidFill>
                <a:latin typeface="Calibri"/>
                <a:cs typeface="Calibri"/>
              </a:rPr>
              <a:t>Intent</a:t>
            </a:r>
            <a:endParaRPr lang="en-US" sz="1400" dirty="0"/>
          </a:p>
        </p:txBody>
      </p:sp>
      <p:sp>
        <p:nvSpPr>
          <p:cNvPr id="115" name="Shape 115"/>
          <p:cNvSpPr/>
          <p:nvPr/>
        </p:nvSpPr>
        <p:spPr>
          <a:xfrm>
            <a:off x="7056425" y="3035808"/>
            <a:ext cx="1920240" cy="64008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400" b="1" i="0" dirty="0">
                <a:solidFill>
                  <a:srgbClr val="14142B"/>
                </a:solidFill>
                <a:latin typeface="Calibri"/>
                <a:cs typeface="Calibri"/>
              </a:rPr>
              <a:t>Slots</a:t>
            </a:r>
            <a:endParaRPr lang="en-US" sz="1400" dirty="0"/>
          </a:p>
        </p:txBody>
      </p:sp>
      <p:sp>
        <p:nvSpPr>
          <p:cNvPr id="116" name="Shape 116"/>
          <p:cNvSpPr/>
          <p:nvPr/>
        </p:nvSpPr>
        <p:spPr>
          <a:xfrm>
            <a:off x="9159545" y="3035808"/>
            <a:ext cx="1920240" cy="64008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400" b="1" i="0" dirty="0">
                <a:solidFill>
                  <a:srgbClr val="14142B"/>
                </a:solidFill>
                <a:latin typeface="Calibri"/>
                <a:cs typeface="Calibri"/>
              </a:rPr>
              <a:t>Flow Generalization</a:t>
            </a:r>
            <a:endParaRPr lang="en-US" sz="1400" dirty="0"/>
          </a:p>
        </p:txBody>
      </p:sp>
      <p:sp>
        <p:nvSpPr>
          <p:cNvPr id="117" name="Shape 117"/>
          <p:cNvSpPr/>
          <p:nvPr/>
        </p:nvSpPr>
        <p:spPr>
          <a:xfrm>
            <a:off x="7056425" y="3785616"/>
            <a:ext cx="1920240" cy="64008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400" b="1" i="0" dirty="0">
                <a:solidFill>
                  <a:srgbClr val="14142B"/>
                </a:solidFill>
                <a:latin typeface="Calibri"/>
                <a:cs typeface="Calibri"/>
              </a:rPr>
              <a:t>Matching</a:t>
            </a:r>
            <a:endParaRPr lang="en-US" sz="1400" dirty="0"/>
          </a:p>
        </p:txBody>
      </p:sp>
      <p:sp>
        <p:nvSpPr>
          <p:cNvPr id="118" name="Shape 118"/>
          <p:cNvSpPr/>
          <p:nvPr/>
        </p:nvSpPr>
        <p:spPr>
          <a:xfrm>
            <a:off x="9159545" y="3785616"/>
            <a:ext cx="1920240" cy="64008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400" b="1" i="0" dirty="0">
                <a:solidFill>
                  <a:srgbClr val="14142B"/>
                </a:solidFill>
                <a:latin typeface="Calibri"/>
                <a:cs typeface="Calibri"/>
              </a:rPr>
              <a:t>Recovery</a:t>
            </a:r>
            <a:endParaRPr lang="en-US" sz="1400" dirty="0"/>
          </a:p>
        </p:txBody>
      </p:sp>
      <p:sp>
        <p:nvSpPr>
          <p:cNvPr id="119" name="Shape 119"/>
          <p:cNvSpPr/>
          <p:nvPr/>
        </p:nvSpPr>
        <p:spPr>
          <a:xfrm>
            <a:off x="7056425" y="4535424"/>
            <a:ext cx="1920240" cy="64008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400" b="1" i="0" dirty="0">
                <a:solidFill>
                  <a:srgbClr val="14142B"/>
                </a:solidFill>
                <a:latin typeface="Calibri"/>
                <a:cs typeface="Calibri"/>
              </a:rPr>
              <a:t>Storage</a:t>
            </a:r>
            <a:endParaRPr lang="en-US" sz="1400" dirty="0"/>
          </a:p>
        </p:txBody>
      </p:sp>
      <p:sp>
        <p:nvSpPr>
          <p:cNvPr id="120" name="Shape 120"/>
          <p:cNvSpPr/>
          <p:nvPr/>
        </p:nvSpPr>
        <p:spPr>
          <a:xfrm>
            <a:off x="9159545" y="4535424"/>
            <a:ext cx="1920240" cy="64008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400" b="1" i="0" dirty="0">
                <a:solidFill>
                  <a:srgbClr val="14142B"/>
                </a:solidFill>
                <a:latin typeface="Calibri"/>
                <a:cs typeface="Calibri"/>
              </a:rPr>
              <a:t>APIs</a:t>
            </a:r>
            <a:endParaRPr lang="en-US" sz="1400" dirty="0"/>
          </a:p>
        </p:txBody>
      </p:sp>
      <p:cxnSp>
        <p:nvCxnSpPr>
          <p:cNvPr id="121" name="Arrow 121"/>
          <p:cNvCxnSpPr/>
          <p:nvPr/>
        </p:nvCxnSpPr>
        <p:spPr>
          <a:xfrm>
            <a:off x="5501945" y="3611880"/>
            <a:ext cx="1188720" cy="0"/>
          </a:xfrm>
          <a:prstGeom prst="line">
            <a:avLst/>
          </a:prstGeom>
          <a:ln w="22225">
            <a:solidFill>
              <a:srgbClr val="6D28D9"/>
            </a:solidFill>
            <a:headEnd type="triangle"/>
            <a:tailEnd type="triangle"/>
          </a:ln>
        </p:spPr>
      </p:cxnSp>
      <p:sp>
        <p:nvSpPr>
          <p:cNvPr id="122" name="Shape 122"/>
          <p:cNvSpPr txBox="1"/>
          <p:nvPr/>
        </p:nvSpPr>
        <p:spPr>
          <a:xfrm>
            <a:off x="5456225" y="3108960"/>
            <a:ext cx="1280160" cy="365760"/>
          </a:xfrm>
          <a:prstGeom prst="rect">
            <a:avLst/>
          </a:prstGeom>
          <a:noFill/>
          <a:ln>
            <a:noFill/>
          </a:ln>
        </p:spPr>
        <p:txBody>
          <a:bodyPr wrap="square" lIns="0" tIns="0" rIns="0" bIns="0" rtlCol="0" anchor="ctr">
            <a:normAutofit/>
          </a:bodyPr>
          <a:lstStyle/>
          <a:p>
            <a:pPr marL="0" indent="0" algn="ctr">
              <a:spcAft>
                <a:spcPts val="0"/>
              </a:spcAft>
              <a:buNone/>
            </a:pPr>
            <a:r>
              <a:rPr lang="en-US" sz="1100" b="1" i="0" spc="100" dirty="0">
                <a:solidFill>
                  <a:srgbClr val="6D28D9"/>
                </a:solidFill>
                <a:latin typeface="Calibri"/>
                <a:cs typeface="Calibri"/>
              </a:rPr>
              <a:t>HTTPS / JSON</a:t>
            </a:r>
            <a:endParaRPr lang="en-US" sz="1100" dirty="0"/>
          </a:p>
        </p:txBody>
      </p:sp>
      <p:sp>
        <p:nvSpPr>
          <p:cNvPr id="123" name="Shape 123"/>
          <p:cNvSpPr/>
          <p:nvPr/>
        </p:nvSpPr>
        <p:spPr>
          <a:xfrm>
            <a:off x="838505" y="5532120"/>
            <a:ext cx="10515600" cy="640080"/>
          </a:xfrm>
          <a:prstGeom prst="roundRect">
            <a:avLst>
              <a:gd name="adj" fmla="val 12000"/>
            </a:avLst>
          </a:prstGeom>
          <a:solidFill>
            <a:srgbClr val="6D28D9"/>
          </a:solidFill>
          <a:ln>
            <a:noFill/>
          </a:ln>
        </p:spPr>
        <p:txBody>
          <a:bodyPr wrap="square" lIns="109728" tIns="65837" rIns="109728" bIns="65837" rtlCol="0" anchor="ctr">
            <a:normAutofit/>
          </a:bodyPr>
          <a:lstStyle/>
          <a:p>
            <a:pPr marL="0" indent="0" algn="ctr">
              <a:spcAft>
                <a:spcPts val="0"/>
              </a:spcAft>
              <a:buNone/>
            </a:pPr>
            <a:r>
              <a:rPr lang="en-US" sz="1700" b="1" i="0" dirty="0">
                <a:solidFill>
                  <a:srgbClr val="FFFFFF"/>
                </a:solidFill>
                <a:latin typeface="Calibri"/>
                <a:cs typeface="Calibri"/>
              </a:rPr>
              <a:t>LLM ≠ Direct Phone Control</a:t>
            </a:r>
            <a:r>
              <a:rPr lang="en-US" sz="1500" b="0" i="0" dirty="0">
                <a:solidFill>
                  <a:srgbClr val="E9E1FA"/>
                </a:solidFill>
                <a:latin typeface="Calibri"/>
                <a:cs typeface="Calibri"/>
              </a:rPr>
              <a:t>  Cloud provides structured instructions; Android validates and executes them.</a:t>
            </a:r>
            <a:endParaRPr lang="en-US" sz="1700" dirty="0"/>
          </a:p>
        </p:txBody>
      </p:sp>
    </p:spTree>
    <p:extLst>
      <p:ext uri="{BB962C8B-B14F-4D97-AF65-F5344CB8AC3E}">
        <p14:creationId xmlns:p14="http://schemas.microsoft.com/office/powerpoint/2010/main"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IN" b="1" dirty="0">
                <a:solidFill>
                  <a:srgbClr val="704EA6"/>
                </a:solidFill>
                <a:latin typeface="+mn-lt"/>
              </a:rPr>
              <a:t>Demo &amp; Product Walkthrough</a:t>
            </a:r>
          </a:p>
        </p:txBody>
      </p:sp>
      <p:sp>
        <p:nvSpPr>
          <p:cNvPr id="101" name="Shape 101"/>
          <p:cNvSpPr/>
          <p:nvPr/>
        </p:nvSpPr>
        <p:spPr>
          <a:xfrm>
            <a:off x="838505" y="1691640"/>
            <a:ext cx="10515600" cy="1143000"/>
          </a:xfrm>
          <a:prstGeom prst="roundRect">
            <a:avLst>
              <a:gd name="adj" fmla="val 6000"/>
            </a:avLst>
          </a:prstGeom>
          <a:solidFill>
            <a:srgbClr val="FAF8FE"/>
          </a:solidFill>
          <a:ln w="12700">
            <a:solidFill>
              <a:srgbClr val="D9D3F0"/>
            </a:solidFill>
          </a:ln>
        </p:spPr>
        <p:txBody>
          <a:bodyPr wrap="square" lIns="109728" tIns="65837" rIns="109728" bIns="65837" rtlCol="0" anchor="t">
            <a:normAutofit/>
          </a:bodyPr>
          <a:lstStyle/>
          <a:p>
            <a:endParaRPr lang="en-US"/>
          </a:p>
        </p:txBody>
      </p:sp>
      <p:sp>
        <p:nvSpPr>
          <p:cNvPr id="102" name="Shape 102"/>
          <p:cNvSpPr txBox="1"/>
          <p:nvPr/>
        </p:nvSpPr>
        <p:spPr>
          <a:xfrm>
            <a:off x="1021385" y="1691640"/>
            <a:ext cx="1463040" cy="1143000"/>
          </a:xfrm>
          <a:prstGeom prst="rect">
            <a:avLst/>
          </a:prstGeom>
          <a:noFill/>
          <a:ln>
            <a:noFill/>
          </a:ln>
        </p:spPr>
        <p:txBody>
          <a:bodyPr wrap="square" lIns="0" tIns="0" rIns="0" bIns="0" rtlCol="0" anchor="ctr">
            <a:normAutofit/>
          </a:bodyPr>
          <a:lstStyle/>
          <a:p>
            <a:pPr marL="0" indent="0" algn="l">
              <a:spcAft>
                <a:spcPts val="0"/>
              </a:spcAft>
              <a:buNone/>
            </a:pPr>
            <a:r>
              <a:rPr lang="en-US" sz="1200" b="1" i="0" spc="100" dirty="0">
                <a:solidFill>
                  <a:srgbClr val="6D28D9"/>
                </a:solidFill>
                <a:latin typeface="Calibri"/>
                <a:cs typeface="Calibri"/>
              </a:rPr>
              <a:t>1 · TEACH</a:t>
            </a:r>
            <a:endParaRPr lang="en-US" sz="1200" dirty="0"/>
          </a:p>
        </p:txBody>
      </p:sp>
      <p:sp>
        <p:nvSpPr>
          <p:cNvPr id="103" name="Shape 103"/>
          <p:cNvSpPr/>
          <p:nvPr/>
        </p:nvSpPr>
        <p:spPr>
          <a:xfrm>
            <a:off x="2575865" y="1965960"/>
            <a:ext cx="1417320" cy="59436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300" b="1" i="0" dirty="0">
                <a:solidFill>
                  <a:srgbClr val="14142B"/>
                </a:solidFill>
                <a:latin typeface="Calibri"/>
                <a:cs typeface="Calibri"/>
              </a:rPr>
              <a:t>User Command</a:t>
            </a:r>
            <a:endParaRPr lang="en-US" sz="1300" dirty="0"/>
          </a:p>
        </p:txBody>
      </p:sp>
      <p:cxnSp>
        <p:nvCxnSpPr>
          <p:cNvPr id="104" name="Arrow 104"/>
          <p:cNvCxnSpPr/>
          <p:nvPr/>
        </p:nvCxnSpPr>
        <p:spPr>
          <a:xfrm>
            <a:off x="4038905" y="2263140"/>
            <a:ext cx="228600" cy="0"/>
          </a:xfrm>
          <a:prstGeom prst="line">
            <a:avLst/>
          </a:prstGeom>
          <a:ln w="22225">
            <a:solidFill>
              <a:srgbClr val="6D28D9"/>
            </a:solidFill>
            <a:tailEnd type="triangle"/>
          </a:ln>
        </p:spPr>
      </p:cxnSp>
      <p:sp>
        <p:nvSpPr>
          <p:cNvPr id="105" name="Shape 105"/>
          <p:cNvSpPr/>
          <p:nvPr/>
        </p:nvSpPr>
        <p:spPr>
          <a:xfrm>
            <a:off x="4313225" y="1965960"/>
            <a:ext cx="1417320" cy="59436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300" b="1" i="0" dirty="0">
                <a:solidFill>
                  <a:srgbClr val="14142B"/>
                </a:solidFill>
                <a:latin typeface="Calibri"/>
                <a:cs typeface="Calibri"/>
              </a:rPr>
              <a:t>User Taps</a:t>
            </a:r>
            <a:endParaRPr lang="en-US" sz="1300" dirty="0"/>
          </a:p>
        </p:txBody>
      </p:sp>
      <p:cxnSp>
        <p:nvCxnSpPr>
          <p:cNvPr id="106" name="Arrow 106"/>
          <p:cNvCxnSpPr/>
          <p:nvPr/>
        </p:nvCxnSpPr>
        <p:spPr>
          <a:xfrm>
            <a:off x="5776265" y="2263140"/>
            <a:ext cx="228600" cy="0"/>
          </a:xfrm>
          <a:prstGeom prst="line">
            <a:avLst/>
          </a:prstGeom>
          <a:ln w="22225">
            <a:solidFill>
              <a:srgbClr val="6D28D9"/>
            </a:solidFill>
            <a:tailEnd type="triangle"/>
          </a:ln>
        </p:spPr>
      </p:cxnSp>
      <p:sp>
        <p:nvSpPr>
          <p:cNvPr id="107" name="Shape 107"/>
          <p:cNvSpPr/>
          <p:nvPr/>
        </p:nvSpPr>
        <p:spPr>
          <a:xfrm>
            <a:off x="6050585" y="1965960"/>
            <a:ext cx="1417320" cy="59436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300" b="1" i="0" dirty="0">
                <a:solidFill>
                  <a:srgbClr val="14142B"/>
                </a:solidFill>
                <a:latin typeface="Calibri"/>
                <a:cs typeface="Calibri"/>
              </a:rPr>
              <a:t>Accessibility Events</a:t>
            </a:r>
            <a:endParaRPr lang="en-US" sz="1300" dirty="0"/>
          </a:p>
        </p:txBody>
      </p:sp>
      <p:cxnSp>
        <p:nvCxnSpPr>
          <p:cNvPr id="108" name="Arrow 108"/>
          <p:cNvCxnSpPr/>
          <p:nvPr/>
        </p:nvCxnSpPr>
        <p:spPr>
          <a:xfrm>
            <a:off x="7513625" y="2263140"/>
            <a:ext cx="228600" cy="0"/>
          </a:xfrm>
          <a:prstGeom prst="line">
            <a:avLst/>
          </a:prstGeom>
          <a:ln w="22225">
            <a:solidFill>
              <a:srgbClr val="6D28D9"/>
            </a:solidFill>
            <a:tailEnd type="triangle"/>
          </a:ln>
        </p:spPr>
      </p:cxnSp>
      <p:sp>
        <p:nvSpPr>
          <p:cNvPr id="109" name="Shape 109"/>
          <p:cNvSpPr/>
          <p:nvPr/>
        </p:nvSpPr>
        <p:spPr>
          <a:xfrm>
            <a:off x="7787945" y="1965960"/>
            <a:ext cx="1417320" cy="59436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300" b="1" i="0" dirty="0">
                <a:solidFill>
                  <a:srgbClr val="14142B"/>
                </a:solidFill>
                <a:latin typeface="Calibri"/>
                <a:cs typeface="Calibri"/>
              </a:rPr>
              <a:t>Semantic Target</a:t>
            </a:r>
            <a:endParaRPr lang="en-US" sz="1300" dirty="0"/>
          </a:p>
        </p:txBody>
      </p:sp>
      <p:cxnSp>
        <p:nvCxnSpPr>
          <p:cNvPr id="110" name="Arrow 110"/>
          <p:cNvCxnSpPr/>
          <p:nvPr/>
        </p:nvCxnSpPr>
        <p:spPr>
          <a:xfrm>
            <a:off x="9250985" y="2263140"/>
            <a:ext cx="228600" cy="0"/>
          </a:xfrm>
          <a:prstGeom prst="line">
            <a:avLst/>
          </a:prstGeom>
          <a:ln w="22225">
            <a:solidFill>
              <a:srgbClr val="6D28D9"/>
            </a:solidFill>
            <a:tailEnd type="triangle"/>
          </a:ln>
        </p:spPr>
      </p:cxnSp>
      <p:sp>
        <p:nvSpPr>
          <p:cNvPr id="111" name="Shape 111"/>
          <p:cNvSpPr/>
          <p:nvPr/>
        </p:nvSpPr>
        <p:spPr>
          <a:xfrm>
            <a:off x="9525305" y="1965960"/>
            <a:ext cx="1417320" cy="594360"/>
          </a:xfrm>
          <a:prstGeom prst="roundRect">
            <a:avLst>
              <a:gd name="adj" fmla="val 14000"/>
            </a:avLst>
          </a:prstGeom>
          <a:solidFill>
            <a:srgbClr val="6D28D9"/>
          </a:solidFill>
          <a:ln w="12700">
            <a:solidFill>
              <a:srgbClr val="6D28D9"/>
            </a:solidFill>
          </a:ln>
        </p:spPr>
        <p:txBody>
          <a:bodyPr wrap="square" lIns="54864" tIns="32918" rIns="54864" bIns="32918" rtlCol="0" anchor="ctr">
            <a:normAutofit/>
          </a:bodyPr>
          <a:lstStyle/>
          <a:p>
            <a:pPr marL="0" indent="0" algn="ctr">
              <a:spcAft>
                <a:spcPts val="0"/>
              </a:spcAft>
              <a:buNone/>
            </a:pPr>
            <a:r>
              <a:rPr lang="en-US" sz="1300" b="1" i="0" dirty="0">
                <a:solidFill>
                  <a:srgbClr val="FFFFFF"/>
                </a:solidFill>
                <a:latin typeface="Calibri"/>
                <a:cs typeface="Calibri"/>
              </a:rPr>
              <a:t>Ordered Flow</a:t>
            </a:r>
            <a:endParaRPr lang="en-US" sz="1300" dirty="0"/>
          </a:p>
        </p:txBody>
      </p:sp>
      <p:sp>
        <p:nvSpPr>
          <p:cNvPr id="112" name="Shape 112"/>
          <p:cNvSpPr/>
          <p:nvPr/>
        </p:nvSpPr>
        <p:spPr>
          <a:xfrm>
            <a:off x="838505" y="3017520"/>
            <a:ext cx="10515600" cy="1143000"/>
          </a:xfrm>
          <a:prstGeom prst="roundRect">
            <a:avLst>
              <a:gd name="adj" fmla="val 6000"/>
            </a:avLst>
          </a:prstGeom>
          <a:solidFill>
            <a:srgbClr val="FAF8FE"/>
          </a:solidFill>
          <a:ln w="12700">
            <a:solidFill>
              <a:srgbClr val="D9D3F0"/>
            </a:solidFill>
          </a:ln>
        </p:spPr>
        <p:txBody>
          <a:bodyPr wrap="square" lIns="109728" tIns="65837" rIns="109728" bIns="65837" rtlCol="0" anchor="t">
            <a:normAutofit/>
          </a:bodyPr>
          <a:lstStyle/>
          <a:p>
            <a:endParaRPr lang="en-US"/>
          </a:p>
        </p:txBody>
      </p:sp>
      <p:sp>
        <p:nvSpPr>
          <p:cNvPr id="113" name="Shape 113"/>
          <p:cNvSpPr txBox="1"/>
          <p:nvPr/>
        </p:nvSpPr>
        <p:spPr>
          <a:xfrm>
            <a:off x="1021385" y="3017520"/>
            <a:ext cx="1463040" cy="1143000"/>
          </a:xfrm>
          <a:prstGeom prst="rect">
            <a:avLst/>
          </a:prstGeom>
          <a:noFill/>
          <a:ln>
            <a:noFill/>
          </a:ln>
        </p:spPr>
        <p:txBody>
          <a:bodyPr wrap="square" lIns="0" tIns="0" rIns="0" bIns="0" rtlCol="0" anchor="ctr">
            <a:normAutofit/>
          </a:bodyPr>
          <a:lstStyle/>
          <a:p>
            <a:pPr marL="0" indent="0" algn="l">
              <a:spcAft>
                <a:spcPts val="0"/>
              </a:spcAft>
              <a:buNone/>
            </a:pPr>
            <a:r>
              <a:rPr lang="en-US" sz="1200" b="1" i="0" spc="100" dirty="0">
                <a:solidFill>
                  <a:srgbClr val="6D28D9"/>
                </a:solidFill>
                <a:latin typeface="Calibri"/>
                <a:cs typeface="Calibri"/>
              </a:rPr>
              <a:t>2 · EXAMPLE FLOW</a:t>
            </a:r>
            <a:endParaRPr lang="en-US" sz="1200" dirty="0"/>
          </a:p>
        </p:txBody>
      </p:sp>
      <p:sp>
        <p:nvSpPr>
          <p:cNvPr id="114" name="Shape 114"/>
          <p:cNvSpPr/>
          <p:nvPr/>
        </p:nvSpPr>
        <p:spPr>
          <a:xfrm>
            <a:off x="2575865" y="3291840"/>
            <a:ext cx="1417320" cy="59436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300" b="1" i="0" dirty="0">
                <a:solidFill>
                  <a:srgbClr val="14142B"/>
                </a:solidFill>
                <a:latin typeface="Calibri"/>
                <a:cs typeface="Calibri"/>
              </a:rPr>
              <a:t>SEARCH</a:t>
            </a:r>
            <a:endParaRPr lang="en-US" sz="1300" dirty="0"/>
          </a:p>
        </p:txBody>
      </p:sp>
      <p:cxnSp>
        <p:nvCxnSpPr>
          <p:cNvPr id="115" name="Arrow 115"/>
          <p:cNvCxnSpPr/>
          <p:nvPr/>
        </p:nvCxnSpPr>
        <p:spPr>
          <a:xfrm>
            <a:off x="4038905" y="3589020"/>
            <a:ext cx="228600" cy="0"/>
          </a:xfrm>
          <a:prstGeom prst="line">
            <a:avLst/>
          </a:prstGeom>
          <a:ln w="22225">
            <a:solidFill>
              <a:srgbClr val="6D28D9"/>
            </a:solidFill>
            <a:tailEnd type="triangle"/>
          </a:ln>
        </p:spPr>
      </p:cxnSp>
      <p:sp>
        <p:nvSpPr>
          <p:cNvPr id="116" name="Shape 116"/>
          <p:cNvSpPr/>
          <p:nvPr/>
        </p:nvSpPr>
        <p:spPr>
          <a:xfrm>
            <a:off x="4313225" y="3291840"/>
            <a:ext cx="1417320" cy="59436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300" b="1" i="0" dirty="0">
                <a:solidFill>
                  <a:srgbClr val="14142B"/>
                </a:solidFill>
                <a:latin typeface="Calibri"/>
                <a:cs typeface="Calibri"/>
              </a:rPr>
              <a:t>SELECT</a:t>
            </a:r>
            <a:endParaRPr lang="en-US" sz="1300" dirty="0"/>
          </a:p>
        </p:txBody>
      </p:sp>
      <p:cxnSp>
        <p:nvCxnSpPr>
          <p:cNvPr id="117" name="Arrow 117"/>
          <p:cNvCxnSpPr/>
          <p:nvPr/>
        </p:nvCxnSpPr>
        <p:spPr>
          <a:xfrm>
            <a:off x="5776265" y="3589020"/>
            <a:ext cx="228600" cy="0"/>
          </a:xfrm>
          <a:prstGeom prst="line">
            <a:avLst/>
          </a:prstGeom>
          <a:ln w="22225">
            <a:solidFill>
              <a:srgbClr val="6D28D9"/>
            </a:solidFill>
            <a:tailEnd type="triangle"/>
          </a:ln>
        </p:spPr>
      </p:cxnSp>
      <p:sp>
        <p:nvSpPr>
          <p:cNvPr id="118" name="Shape 118"/>
          <p:cNvSpPr/>
          <p:nvPr/>
        </p:nvSpPr>
        <p:spPr>
          <a:xfrm>
            <a:off x="6050585" y="3291840"/>
            <a:ext cx="1417320" cy="59436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300" b="1" i="0" dirty="0">
                <a:solidFill>
                  <a:srgbClr val="14142B"/>
                </a:solidFill>
                <a:latin typeface="Calibri"/>
                <a:cs typeface="Calibri"/>
              </a:rPr>
              <a:t>SET QUANTITY</a:t>
            </a:r>
            <a:endParaRPr lang="en-US" sz="1300" dirty="0"/>
          </a:p>
        </p:txBody>
      </p:sp>
      <p:cxnSp>
        <p:nvCxnSpPr>
          <p:cNvPr id="119" name="Arrow 119"/>
          <p:cNvCxnSpPr/>
          <p:nvPr/>
        </p:nvCxnSpPr>
        <p:spPr>
          <a:xfrm>
            <a:off x="7513625" y="3589020"/>
            <a:ext cx="228600" cy="0"/>
          </a:xfrm>
          <a:prstGeom prst="line">
            <a:avLst/>
          </a:prstGeom>
          <a:ln w="22225">
            <a:solidFill>
              <a:srgbClr val="6D28D9"/>
            </a:solidFill>
            <a:tailEnd type="triangle"/>
          </a:ln>
        </p:spPr>
      </p:cxnSp>
      <p:sp>
        <p:nvSpPr>
          <p:cNvPr id="120" name="Shape 120"/>
          <p:cNvSpPr/>
          <p:nvPr/>
        </p:nvSpPr>
        <p:spPr>
          <a:xfrm>
            <a:off x="7787945" y="3291840"/>
            <a:ext cx="1417320" cy="59436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300" b="1" i="0" dirty="0">
                <a:solidFill>
                  <a:srgbClr val="14142B"/>
                </a:solidFill>
                <a:latin typeface="Calibri"/>
                <a:cs typeface="Calibri"/>
              </a:rPr>
              <a:t>ADD TO CART</a:t>
            </a:r>
            <a:endParaRPr lang="en-US" sz="1300" dirty="0"/>
          </a:p>
        </p:txBody>
      </p:sp>
      <p:cxnSp>
        <p:nvCxnSpPr>
          <p:cNvPr id="121" name="Arrow 121"/>
          <p:cNvCxnSpPr/>
          <p:nvPr/>
        </p:nvCxnSpPr>
        <p:spPr>
          <a:xfrm>
            <a:off x="9250985" y="3589020"/>
            <a:ext cx="228600" cy="0"/>
          </a:xfrm>
          <a:prstGeom prst="line">
            <a:avLst/>
          </a:prstGeom>
          <a:ln w="22225">
            <a:solidFill>
              <a:srgbClr val="6D28D9"/>
            </a:solidFill>
            <a:tailEnd type="triangle"/>
          </a:ln>
        </p:spPr>
      </p:cxnSp>
      <p:sp>
        <p:nvSpPr>
          <p:cNvPr id="122" name="Shape 122"/>
          <p:cNvSpPr/>
          <p:nvPr/>
        </p:nvSpPr>
        <p:spPr>
          <a:xfrm>
            <a:off x="9525305" y="3291840"/>
            <a:ext cx="1417320" cy="59436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300" b="1" i="0" dirty="0">
                <a:solidFill>
                  <a:srgbClr val="14142B"/>
                </a:solidFill>
                <a:latin typeface="Calibri"/>
                <a:cs typeface="Calibri"/>
              </a:rPr>
              <a:t>OPEN CART</a:t>
            </a:r>
            <a:endParaRPr lang="en-US" sz="1300" dirty="0"/>
          </a:p>
        </p:txBody>
      </p:sp>
      <p:sp>
        <p:nvSpPr>
          <p:cNvPr id="123" name="Shape 123"/>
          <p:cNvSpPr/>
          <p:nvPr/>
        </p:nvSpPr>
        <p:spPr>
          <a:xfrm>
            <a:off x="838505" y="4343400"/>
            <a:ext cx="10515600" cy="1143000"/>
          </a:xfrm>
          <a:prstGeom prst="roundRect">
            <a:avLst>
              <a:gd name="adj" fmla="val 6000"/>
            </a:avLst>
          </a:prstGeom>
          <a:solidFill>
            <a:srgbClr val="FAF8FE"/>
          </a:solidFill>
          <a:ln w="12700">
            <a:solidFill>
              <a:srgbClr val="D9D3F0"/>
            </a:solidFill>
          </a:ln>
        </p:spPr>
        <p:txBody>
          <a:bodyPr wrap="square" lIns="109728" tIns="65837" rIns="109728" bIns="65837" rtlCol="0" anchor="t">
            <a:normAutofit/>
          </a:bodyPr>
          <a:lstStyle/>
          <a:p>
            <a:endParaRPr lang="en-US"/>
          </a:p>
        </p:txBody>
      </p:sp>
      <p:sp>
        <p:nvSpPr>
          <p:cNvPr id="124" name="Shape 124"/>
          <p:cNvSpPr txBox="1"/>
          <p:nvPr/>
        </p:nvSpPr>
        <p:spPr>
          <a:xfrm>
            <a:off x="1021385" y="4343400"/>
            <a:ext cx="1463040" cy="1143000"/>
          </a:xfrm>
          <a:prstGeom prst="rect">
            <a:avLst/>
          </a:prstGeom>
          <a:noFill/>
          <a:ln>
            <a:noFill/>
          </a:ln>
        </p:spPr>
        <p:txBody>
          <a:bodyPr wrap="square" lIns="0" tIns="0" rIns="0" bIns="0" rtlCol="0" anchor="ctr">
            <a:normAutofit/>
          </a:bodyPr>
          <a:lstStyle/>
          <a:p>
            <a:pPr marL="0" indent="0" algn="l">
              <a:spcAft>
                <a:spcPts val="0"/>
              </a:spcAft>
              <a:buNone/>
            </a:pPr>
            <a:r>
              <a:rPr lang="en-US" sz="1200" b="1" i="0" spc="100" dirty="0">
                <a:solidFill>
                  <a:srgbClr val="6D28D9"/>
                </a:solidFill>
                <a:latin typeface="Calibri"/>
                <a:cs typeface="Calibri"/>
              </a:rPr>
              <a:t>3 · REPLAY</a:t>
            </a:r>
            <a:endParaRPr lang="en-US" sz="1200" dirty="0"/>
          </a:p>
        </p:txBody>
      </p:sp>
      <p:sp>
        <p:nvSpPr>
          <p:cNvPr id="125" name="Shape 125"/>
          <p:cNvSpPr/>
          <p:nvPr/>
        </p:nvSpPr>
        <p:spPr>
          <a:xfrm>
            <a:off x="2575865" y="4617720"/>
            <a:ext cx="1417320" cy="59436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300" b="1" i="0" dirty="0">
                <a:solidFill>
                  <a:srgbClr val="14142B"/>
                </a:solidFill>
                <a:latin typeface="Calibri"/>
                <a:cs typeface="Calibri"/>
              </a:rPr>
              <a:t>Inspect</a:t>
            </a:r>
            <a:endParaRPr lang="en-US" sz="1300" dirty="0"/>
          </a:p>
        </p:txBody>
      </p:sp>
      <p:cxnSp>
        <p:nvCxnSpPr>
          <p:cNvPr id="126" name="Arrow 126"/>
          <p:cNvCxnSpPr/>
          <p:nvPr/>
        </p:nvCxnSpPr>
        <p:spPr>
          <a:xfrm>
            <a:off x="4038905" y="4914900"/>
            <a:ext cx="228600" cy="0"/>
          </a:xfrm>
          <a:prstGeom prst="line">
            <a:avLst/>
          </a:prstGeom>
          <a:ln w="22225">
            <a:solidFill>
              <a:srgbClr val="6D28D9"/>
            </a:solidFill>
            <a:tailEnd type="triangle"/>
          </a:ln>
        </p:spPr>
      </p:cxnSp>
      <p:sp>
        <p:nvSpPr>
          <p:cNvPr id="127" name="Shape 127"/>
          <p:cNvSpPr/>
          <p:nvPr/>
        </p:nvSpPr>
        <p:spPr>
          <a:xfrm>
            <a:off x="4313225" y="4617720"/>
            <a:ext cx="1417320" cy="59436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300" b="1" i="0" dirty="0">
                <a:solidFill>
                  <a:srgbClr val="14142B"/>
                </a:solidFill>
                <a:latin typeface="Calibri"/>
                <a:cs typeface="Calibri"/>
              </a:rPr>
              <a:t>Resolve Target</a:t>
            </a:r>
            <a:endParaRPr lang="en-US" sz="1300" dirty="0"/>
          </a:p>
        </p:txBody>
      </p:sp>
      <p:cxnSp>
        <p:nvCxnSpPr>
          <p:cNvPr id="128" name="Arrow 128"/>
          <p:cNvCxnSpPr/>
          <p:nvPr/>
        </p:nvCxnSpPr>
        <p:spPr>
          <a:xfrm>
            <a:off x="5776265" y="4914900"/>
            <a:ext cx="228600" cy="0"/>
          </a:xfrm>
          <a:prstGeom prst="line">
            <a:avLst/>
          </a:prstGeom>
          <a:ln w="22225">
            <a:solidFill>
              <a:srgbClr val="6D28D9"/>
            </a:solidFill>
            <a:tailEnd type="triangle"/>
          </a:ln>
        </p:spPr>
      </p:cxnSp>
      <p:sp>
        <p:nvSpPr>
          <p:cNvPr id="129" name="Shape 129"/>
          <p:cNvSpPr/>
          <p:nvPr/>
        </p:nvSpPr>
        <p:spPr>
          <a:xfrm>
            <a:off x="6050585" y="4617720"/>
            <a:ext cx="1417320" cy="59436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300" b="1" i="0" dirty="0">
                <a:solidFill>
                  <a:srgbClr val="14142B"/>
                </a:solidFill>
                <a:latin typeface="Calibri"/>
                <a:cs typeface="Calibri"/>
              </a:rPr>
              <a:t>Execute</a:t>
            </a:r>
            <a:endParaRPr lang="en-US" sz="1300" dirty="0"/>
          </a:p>
        </p:txBody>
      </p:sp>
      <p:cxnSp>
        <p:nvCxnSpPr>
          <p:cNvPr id="130" name="Arrow 130"/>
          <p:cNvCxnSpPr/>
          <p:nvPr/>
        </p:nvCxnSpPr>
        <p:spPr>
          <a:xfrm>
            <a:off x="7513625" y="4914900"/>
            <a:ext cx="228600" cy="0"/>
          </a:xfrm>
          <a:prstGeom prst="line">
            <a:avLst/>
          </a:prstGeom>
          <a:ln w="22225">
            <a:solidFill>
              <a:srgbClr val="6D28D9"/>
            </a:solidFill>
            <a:tailEnd type="triangle"/>
          </a:ln>
        </p:spPr>
      </p:cxnSp>
      <p:sp>
        <p:nvSpPr>
          <p:cNvPr id="131" name="Shape 131"/>
          <p:cNvSpPr/>
          <p:nvPr/>
        </p:nvSpPr>
        <p:spPr>
          <a:xfrm>
            <a:off x="7787945" y="4617720"/>
            <a:ext cx="1417320" cy="59436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300" b="1" i="0" dirty="0">
                <a:solidFill>
                  <a:srgbClr val="14142B"/>
                </a:solidFill>
                <a:latin typeface="Calibri"/>
                <a:cs typeface="Calibri"/>
              </a:rPr>
              <a:t>Wait</a:t>
            </a:r>
            <a:endParaRPr lang="en-US" sz="1300" dirty="0"/>
          </a:p>
        </p:txBody>
      </p:sp>
      <p:cxnSp>
        <p:nvCxnSpPr>
          <p:cNvPr id="132" name="Arrow 132"/>
          <p:cNvCxnSpPr/>
          <p:nvPr/>
        </p:nvCxnSpPr>
        <p:spPr>
          <a:xfrm>
            <a:off x="9250985" y="4914900"/>
            <a:ext cx="228600" cy="0"/>
          </a:xfrm>
          <a:prstGeom prst="line">
            <a:avLst/>
          </a:prstGeom>
          <a:ln w="22225">
            <a:solidFill>
              <a:srgbClr val="6D28D9"/>
            </a:solidFill>
            <a:tailEnd type="triangle"/>
          </a:ln>
        </p:spPr>
      </p:cxnSp>
      <p:sp>
        <p:nvSpPr>
          <p:cNvPr id="133" name="Shape 133"/>
          <p:cNvSpPr/>
          <p:nvPr/>
        </p:nvSpPr>
        <p:spPr>
          <a:xfrm>
            <a:off x="9525305" y="4617720"/>
            <a:ext cx="1417320" cy="594360"/>
          </a:xfrm>
          <a:prstGeom prst="roundRect">
            <a:avLst>
              <a:gd name="adj" fmla="val 14000"/>
            </a:avLst>
          </a:prstGeom>
          <a:solidFill>
            <a:srgbClr val="6D28D9"/>
          </a:solidFill>
          <a:ln w="12700">
            <a:solidFill>
              <a:srgbClr val="6D28D9"/>
            </a:solidFill>
          </a:ln>
        </p:spPr>
        <p:txBody>
          <a:bodyPr wrap="square" lIns="54864" tIns="32918" rIns="54864" bIns="32918" rtlCol="0" anchor="ctr">
            <a:normAutofit/>
          </a:bodyPr>
          <a:lstStyle/>
          <a:p>
            <a:pPr marL="0" indent="0" algn="ctr">
              <a:spcAft>
                <a:spcPts val="0"/>
              </a:spcAft>
              <a:buNone/>
            </a:pPr>
            <a:r>
              <a:rPr lang="en-US" sz="1300" b="1" i="0" dirty="0">
                <a:solidFill>
                  <a:srgbClr val="FFFFFF"/>
                </a:solidFill>
                <a:latin typeface="Calibri"/>
                <a:cs typeface="Calibri"/>
              </a:rPr>
              <a:t>Verify</a:t>
            </a:r>
            <a:endParaRPr lang="en-US" sz="1300" dirty="0"/>
          </a:p>
        </p:txBody>
      </p:sp>
      <p:sp>
        <p:nvSpPr>
          <p:cNvPr id="134" name="Shape 134"/>
          <p:cNvSpPr txBox="1"/>
          <p:nvPr/>
        </p:nvSpPr>
        <p:spPr>
          <a:xfrm>
            <a:off x="838505" y="5715000"/>
            <a:ext cx="10515600" cy="457200"/>
          </a:xfrm>
          <a:prstGeom prst="rect">
            <a:avLst/>
          </a:prstGeom>
          <a:noFill/>
          <a:ln>
            <a:noFill/>
          </a:ln>
        </p:spPr>
        <p:txBody>
          <a:bodyPr wrap="square" lIns="109728" tIns="65837" rIns="109728" bIns="65837" rtlCol="0" anchor="ctr">
            <a:normAutofit/>
          </a:bodyPr>
          <a:lstStyle/>
          <a:p>
            <a:pPr marL="0" indent="0" algn="ctr">
              <a:spcAft>
                <a:spcPts val="0"/>
              </a:spcAft>
              <a:buNone/>
            </a:pPr>
            <a:r>
              <a:rPr lang="en-US" sz="1500" b="1" i="0" dirty="0">
                <a:solidFill>
                  <a:srgbClr val="6D28D9"/>
                </a:solidFill>
                <a:latin typeface="Calibri"/>
                <a:cs typeface="Calibri"/>
              </a:rPr>
              <a:t>Then: Continue  ·  Recover  ·  Ask User.</a:t>
            </a:r>
            <a:r>
              <a:rPr lang="en-US" sz="1400" b="0" i="0" dirty="0">
                <a:solidFill>
                  <a:srgbClr val="63637E"/>
                </a:solidFill>
                <a:latin typeface="Calibri"/>
                <a:cs typeface="Calibri"/>
              </a:rPr>
              <a:t>   Semantic actions, not raw coordinates. No blind tapping.</a:t>
            </a:r>
            <a:endParaRPr lang="en-US" sz="1500" dirty="0"/>
          </a:p>
        </p:txBody>
      </p:sp>
    </p:spTree>
    <p:extLst>
      <p:ext uri="{BB962C8B-B14F-4D97-AF65-F5344CB8AC3E}">
        <p14:creationId xmlns:p14="http://schemas.microsoft.com/office/powerpoint/2010/main" val="11782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Tools and tech stack used</a:t>
            </a:r>
            <a:endParaRPr lang="en-IN" b="1" dirty="0">
              <a:solidFill>
                <a:srgbClr val="704EA6"/>
              </a:solidFill>
            </a:endParaRPr>
          </a:p>
        </p:txBody>
      </p:sp>
      <p:sp>
        <p:nvSpPr>
          <p:cNvPr id="101" name="Shape 101"/>
          <p:cNvSpPr/>
          <p:nvPr/>
        </p:nvSpPr>
        <p:spPr>
          <a:xfrm>
            <a:off x="838505" y="1691640"/>
            <a:ext cx="3383280" cy="3703320"/>
          </a:xfrm>
          <a:prstGeom prst="roundRect">
            <a:avLst>
              <a:gd name="adj" fmla="val 5000"/>
            </a:avLst>
          </a:prstGeom>
          <a:solidFill>
            <a:srgbClr val="F3EFFC"/>
          </a:solidFill>
          <a:ln w="12700">
            <a:solidFill>
              <a:srgbClr val="D9D3F0"/>
            </a:solidFill>
          </a:ln>
        </p:spPr>
        <p:txBody>
          <a:bodyPr wrap="square" lIns="164592" tIns="98755" rIns="164592" bIns="98755" rtlCol="0" anchor="t">
            <a:normAutofit/>
          </a:bodyPr>
          <a:lstStyle/>
          <a:p>
            <a:pPr marL="0" indent="0" algn="l">
              <a:spcAft>
                <a:spcPts val="300"/>
              </a:spcAft>
              <a:buNone/>
            </a:pPr>
            <a:r>
              <a:rPr lang="en-US" sz="1100" b="1" i="0" spc="100" dirty="0">
                <a:solidFill>
                  <a:srgbClr val="6D28D9"/>
                </a:solidFill>
                <a:latin typeface="Calibri"/>
                <a:cs typeface="Calibri"/>
              </a:rPr>
              <a:t>ANDROID  ·  EYES + HANDS</a:t>
            </a:r>
            <a:endParaRPr lang="en-US" sz="1100" dirty="0"/>
          </a:p>
          <a:p>
            <a:pPr marL="0" indent="0" algn="l">
              <a:spcAft>
                <a:spcPts val="600"/>
              </a:spcAft>
              <a:buNone/>
            </a:pPr>
            <a:r>
              <a:rPr lang="en-US" sz="1700" b="1" i="0" dirty="0">
                <a:solidFill>
                  <a:srgbClr val="14142B"/>
                </a:solidFill>
                <a:latin typeface="Calibri"/>
                <a:cs typeface="Calibri"/>
              </a:rPr>
              <a:t>Device engine</a:t>
            </a:r>
            <a:endParaRPr lang="en-US" sz="1700" dirty="0"/>
          </a:p>
          <a:p>
            <a:pPr marL="228600" indent="-228600" algn="l">
              <a:spcAft>
                <a:spcPts val="400"/>
              </a:spcAft>
              <a:buClr>
                <a:srgbClr val="6D28D9"/>
              </a:buClr>
              <a:buFont typeface="Arial"/>
              <a:buChar char="•"/>
            </a:pPr>
            <a:r>
              <a:rPr lang="en-US" sz="1700" b="0" i="0" dirty="0">
                <a:solidFill>
                  <a:srgbClr val="63637E"/>
                </a:solidFill>
                <a:latin typeface="Calibri"/>
                <a:cs typeface="Calibri"/>
              </a:rPr>
              <a:t>Android AccessibilityService</a:t>
            </a:r>
            <a:endParaRPr lang="en-US" sz="1700" dirty="0"/>
          </a:p>
          <a:p>
            <a:pPr marL="228600" indent="-228600" algn="l">
              <a:spcAft>
                <a:spcPts val="400"/>
              </a:spcAft>
              <a:buClr>
                <a:srgbClr val="6D28D9"/>
              </a:buClr>
              <a:buFont typeface="Arial"/>
              <a:buChar char="•"/>
            </a:pPr>
            <a:r>
              <a:rPr lang="en-US" sz="1700" b="0" i="0" dirty="0">
                <a:solidFill>
                  <a:srgbClr val="63637E"/>
                </a:solidFill>
                <a:latin typeface="Calibri"/>
                <a:cs typeface="Calibri"/>
              </a:rPr>
              <a:t>UI tree reader (compact list of visible controls)</a:t>
            </a:r>
            <a:endParaRPr lang="en-US" sz="1700" dirty="0"/>
          </a:p>
          <a:p>
            <a:pPr marL="228600" indent="-228600" algn="l">
              <a:spcAft>
                <a:spcPts val="400"/>
              </a:spcAft>
              <a:buClr>
                <a:srgbClr val="6D28D9"/>
              </a:buClr>
              <a:buFont typeface="Arial"/>
              <a:buChar char="•"/>
            </a:pPr>
            <a:r>
              <a:rPr lang="en-US" sz="1700" b="0" i="0" dirty="0">
                <a:solidFill>
                  <a:srgbClr val="63637E"/>
                </a:solidFill>
                <a:latin typeface="Calibri"/>
                <a:cs typeface="Calibri"/>
              </a:rPr>
              <a:t>Teaching recorder</a:t>
            </a:r>
            <a:endParaRPr lang="en-US" sz="1700" dirty="0"/>
          </a:p>
          <a:p>
            <a:pPr marL="228600" indent="-228600" algn="l">
              <a:spcAft>
                <a:spcPts val="400"/>
              </a:spcAft>
              <a:buClr>
                <a:srgbClr val="6D28D9"/>
              </a:buClr>
              <a:buFont typeface="Arial"/>
              <a:buChar char="•"/>
            </a:pPr>
            <a:r>
              <a:rPr lang="en-US" sz="1700" b="0" i="0" dirty="0">
                <a:solidFill>
                  <a:srgbClr val="63637E"/>
                </a:solidFill>
                <a:latin typeface="Calibri"/>
                <a:cs typeface="Calibri"/>
              </a:rPr>
              <a:t>Semantic target resolver</a:t>
            </a:r>
            <a:endParaRPr lang="en-US" sz="1700" dirty="0"/>
          </a:p>
          <a:p>
            <a:pPr marL="228600" indent="-228600" algn="l">
              <a:spcAft>
                <a:spcPts val="400"/>
              </a:spcAft>
              <a:buClr>
                <a:srgbClr val="6D28D9"/>
              </a:buClr>
              <a:buFont typeface="Arial"/>
              <a:buChar char="•"/>
            </a:pPr>
            <a:r>
              <a:rPr lang="en-US" sz="1700" b="0" i="0" dirty="0">
                <a:solidFill>
                  <a:srgbClr val="63637E"/>
                </a:solidFill>
                <a:latin typeface="Calibri"/>
                <a:cs typeface="Calibri"/>
              </a:rPr>
              <a:t>Action executor + verification</a:t>
            </a:r>
            <a:endParaRPr lang="en-US" sz="1700" dirty="0"/>
          </a:p>
        </p:txBody>
      </p:sp>
      <p:sp>
        <p:nvSpPr>
          <p:cNvPr id="102" name="Shape 102"/>
          <p:cNvSpPr/>
          <p:nvPr/>
        </p:nvSpPr>
        <p:spPr>
          <a:xfrm>
            <a:off x="4404665" y="1691640"/>
            <a:ext cx="3383280" cy="3703320"/>
          </a:xfrm>
          <a:prstGeom prst="roundRect">
            <a:avLst>
              <a:gd name="adj" fmla="val 5000"/>
            </a:avLst>
          </a:prstGeom>
          <a:solidFill>
            <a:srgbClr val="F3EFFC"/>
          </a:solidFill>
          <a:ln w="12700">
            <a:solidFill>
              <a:srgbClr val="D9D3F0"/>
            </a:solidFill>
          </a:ln>
        </p:spPr>
        <p:txBody>
          <a:bodyPr wrap="square" lIns="164592" tIns="98755" rIns="164592" bIns="98755" rtlCol="0" anchor="t">
            <a:normAutofit/>
          </a:bodyPr>
          <a:lstStyle/>
          <a:p>
            <a:pPr marL="0" indent="0" algn="l">
              <a:spcAft>
                <a:spcPts val="300"/>
              </a:spcAft>
              <a:buNone/>
            </a:pPr>
            <a:r>
              <a:rPr lang="en-US" sz="1100" b="1" i="0" spc="100" dirty="0">
                <a:solidFill>
                  <a:srgbClr val="6D28D9"/>
                </a:solidFill>
                <a:latin typeface="Calibri"/>
                <a:cs typeface="Calibri"/>
              </a:rPr>
              <a:t>GOOGLE CLOUD  ·  REASONING</a:t>
            </a:r>
            <a:endParaRPr lang="en-US" sz="1100" dirty="0"/>
          </a:p>
          <a:p>
            <a:pPr marL="0" indent="0" algn="l">
              <a:spcAft>
                <a:spcPts val="600"/>
              </a:spcAft>
              <a:buNone/>
            </a:pPr>
            <a:r>
              <a:rPr lang="en-US" sz="1700" b="1" i="0" dirty="0">
                <a:solidFill>
                  <a:srgbClr val="14142B"/>
                </a:solidFill>
                <a:latin typeface="Calibri"/>
                <a:cs typeface="Calibri"/>
              </a:rPr>
              <a:t>Intelligence engine</a:t>
            </a:r>
            <a:endParaRPr lang="en-US" sz="1700" dirty="0"/>
          </a:p>
          <a:p>
            <a:pPr marL="228600" indent="-228600" algn="l">
              <a:spcAft>
                <a:spcPts val="400"/>
              </a:spcAft>
              <a:buClr>
                <a:srgbClr val="6D28D9"/>
              </a:buClr>
              <a:buFont typeface="Arial"/>
              <a:buChar char="•"/>
            </a:pPr>
            <a:r>
              <a:rPr lang="en-US" sz="1700" b="0" i="0" dirty="0">
                <a:solidFill>
                  <a:srgbClr val="63637E"/>
                </a:solidFill>
                <a:latin typeface="Calibri"/>
                <a:cs typeface="Calibri"/>
              </a:rPr>
              <a:t>Voice input and intent classification</a:t>
            </a:r>
            <a:endParaRPr lang="en-US" sz="1700" dirty="0"/>
          </a:p>
          <a:p>
            <a:pPr marL="228600" indent="-228600" algn="l">
              <a:spcAft>
                <a:spcPts val="400"/>
              </a:spcAft>
              <a:buClr>
                <a:srgbClr val="6D28D9"/>
              </a:buClr>
              <a:buFont typeface="Arial"/>
              <a:buChar char="•"/>
            </a:pPr>
            <a:r>
              <a:rPr lang="en-US" sz="1700" b="0" i="0" dirty="0">
                <a:solidFill>
                  <a:srgbClr val="63637E"/>
                </a:solidFill>
                <a:latin typeface="Calibri"/>
                <a:cs typeface="Calibri"/>
              </a:rPr>
              <a:t>Slot extraction (LLM)</a:t>
            </a:r>
            <a:endParaRPr lang="en-US" sz="1700" dirty="0"/>
          </a:p>
          <a:p>
            <a:pPr marL="228600" indent="-228600" algn="l">
              <a:spcAft>
                <a:spcPts val="400"/>
              </a:spcAft>
              <a:buClr>
                <a:srgbClr val="6D28D9"/>
              </a:buClr>
              <a:buFont typeface="Arial"/>
              <a:buChar char="•"/>
            </a:pPr>
            <a:r>
              <a:rPr lang="en-US" sz="1700" b="0" i="0" dirty="0">
                <a:solidFill>
                  <a:srgbClr val="63637E"/>
                </a:solidFill>
                <a:latin typeface="Calibri"/>
                <a:cs typeface="Calibri"/>
              </a:rPr>
              <a:t>Flow generalization and matching</a:t>
            </a:r>
            <a:endParaRPr lang="en-US" sz="1700" dirty="0"/>
          </a:p>
          <a:p>
            <a:pPr marL="228600" indent="-228600" algn="l">
              <a:spcAft>
                <a:spcPts val="400"/>
              </a:spcAft>
              <a:buClr>
                <a:srgbClr val="6D28D9"/>
              </a:buClr>
              <a:buFont typeface="Arial"/>
              <a:buChar char="•"/>
            </a:pPr>
            <a:r>
              <a:rPr lang="en-US" sz="1700" b="0" i="0" dirty="0">
                <a:solidFill>
                  <a:srgbClr val="63637E"/>
                </a:solidFill>
                <a:latin typeface="Calibri"/>
                <a:cs typeface="Calibri"/>
              </a:rPr>
              <a:t>Recovery reasoning</a:t>
            </a:r>
            <a:endParaRPr lang="en-US" sz="1700" dirty="0"/>
          </a:p>
          <a:p>
            <a:pPr marL="228600" indent="-228600" algn="l">
              <a:spcAft>
                <a:spcPts val="400"/>
              </a:spcAft>
              <a:buClr>
                <a:srgbClr val="6D28D9"/>
              </a:buClr>
              <a:buFont typeface="Arial"/>
              <a:buChar char="•"/>
            </a:pPr>
            <a:r>
              <a:rPr lang="en-US" sz="1700" b="0" i="0" dirty="0">
                <a:solidFill>
                  <a:srgbClr val="63637E"/>
                </a:solidFill>
                <a:latin typeface="Calibri"/>
                <a:cs typeface="Calibri"/>
              </a:rPr>
              <a:t>Storage and APIs</a:t>
            </a:r>
            <a:endParaRPr lang="en-US" sz="1700" dirty="0"/>
          </a:p>
        </p:txBody>
      </p:sp>
      <p:sp>
        <p:nvSpPr>
          <p:cNvPr id="103" name="Shape 103"/>
          <p:cNvSpPr/>
          <p:nvPr/>
        </p:nvSpPr>
        <p:spPr>
          <a:xfrm>
            <a:off x="7970825" y="1691640"/>
            <a:ext cx="3383280" cy="3703320"/>
          </a:xfrm>
          <a:prstGeom prst="roundRect">
            <a:avLst>
              <a:gd name="adj" fmla="val 5000"/>
            </a:avLst>
          </a:prstGeom>
          <a:solidFill>
            <a:srgbClr val="F3EFFC"/>
          </a:solidFill>
          <a:ln w="12700">
            <a:solidFill>
              <a:srgbClr val="D9D3F0"/>
            </a:solidFill>
          </a:ln>
        </p:spPr>
        <p:txBody>
          <a:bodyPr wrap="square" lIns="164592" tIns="98755" rIns="164592" bIns="98755" rtlCol="0" anchor="t">
            <a:normAutofit/>
          </a:bodyPr>
          <a:lstStyle/>
          <a:p>
            <a:pPr marL="0" indent="0" algn="l">
              <a:spcAft>
                <a:spcPts val="300"/>
              </a:spcAft>
              <a:buNone/>
            </a:pPr>
            <a:r>
              <a:rPr lang="en-US" sz="1100" b="1" i="0" spc="100" dirty="0">
                <a:solidFill>
                  <a:srgbClr val="6D28D9"/>
                </a:solidFill>
                <a:latin typeface="Calibri"/>
                <a:cs typeface="Calibri"/>
              </a:rPr>
              <a:t>CONTRACT</a:t>
            </a:r>
            <a:endParaRPr lang="en-US" sz="1100" dirty="0"/>
          </a:p>
          <a:p>
            <a:pPr marL="0" indent="0" algn="l">
              <a:spcAft>
                <a:spcPts val="600"/>
              </a:spcAft>
              <a:buNone/>
            </a:pPr>
            <a:r>
              <a:rPr lang="en-US" sz="1700" b="1" i="0" dirty="0">
                <a:solidFill>
                  <a:srgbClr val="14142B"/>
                </a:solidFill>
                <a:latin typeface="Calibri"/>
                <a:cs typeface="Calibri"/>
              </a:rPr>
              <a:t>Interface between engines</a:t>
            </a:r>
            <a:endParaRPr lang="en-US" sz="1700" dirty="0"/>
          </a:p>
          <a:p>
            <a:pPr marL="228600" indent="-228600" algn="l">
              <a:spcAft>
                <a:spcPts val="400"/>
              </a:spcAft>
              <a:buClr>
                <a:srgbClr val="6D28D9"/>
              </a:buClr>
              <a:buFont typeface="Arial"/>
              <a:buChar char="•"/>
            </a:pPr>
            <a:r>
              <a:rPr lang="en-US" sz="1700" b="0" i="0" dirty="0">
                <a:solidFill>
                  <a:srgbClr val="63637E"/>
                </a:solidFill>
                <a:latin typeface="Calibri"/>
                <a:cs typeface="Calibri"/>
              </a:rPr>
              <a:t>HTTPS / JSON</a:t>
            </a:r>
            <a:endParaRPr lang="en-US" sz="1700" dirty="0"/>
          </a:p>
          <a:p>
            <a:pPr marL="228600" indent="-228600" algn="l">
              <a:spcAft>
                <a:spcPts val="400"/>
              </a:spcAft>
              <a:buClr>
                <a:srgbClr val="6D28D9"/>
              </a:buClr>
              <a:buFont typeface="Arial"/>
              <a:buChar char="•"/>
            </a:pPr>
            <a:r>
              <a:rPr lang="en-US" sz="1700" b="0" i="0" dirty="0">
                <a:solidFill>
                  <a:srgbClr val="63637E"/>
                </a:solidFill>
                <a:latin typeface="Calibri"/>
                <a:cs typeface="Calibri"/>
              </a:rPr>
              <a:t>Structured JSON plan, validated against a schema</a:t>
            </a:r>
            <a:endParaRPr lang="en-US" sz="1700" dirty="0"/>
          </a:p>
          <a:p>
            <a:pPr marL="228600" indent="-228600" algn="l">
              <a:spcAft>
                <a:spcPts val="400"/>
              </a:spcAft>
              <a:buClr>
                <a:srgbClr val="6D28D9"/>
              </a:buClr>
              <a:buFont typeface="Arial"/>
              <a:buChar char="•"/>
            </a:pPr>
            <a:r>
              <a:rPr lang="en-US" sz="1700" b="0" i="0" dirty="0">
                <a:solidFill>
                  <a:srgbClr val="63637E"/>
                </a:solidFill>
                <a:latin typeface="Calibri"/>
                <a:cs typeface="Calibri"/>
              </a:rPr>
              <a:t>Shared JSON contract, frozen early</a:t>
            </a:r>
            <a:endParaRPr lang="en-US" sz="1700" dirty="0"/>
          </a:p>
          <a:p>
            <a:pPr marL="228600" indent="-228600" algn="l">
              <a:spcAft>
                <a:spcPts val="400"/>
              </a:spcAft>
              <a:buClr>
                <a:srgbClr val="6D28D9"/>
              </a:buClr>
              <a:buFont typeface="Arial"/>
              <a:buChar char="•"/>
            </a:pPr>
            <a:r>
              <a:rPr lang="en-US" sz="1700" b="0" i="0" dirty="0">
                <a:solidFill>
                  <a:srgbClr val="63637E"/>
                </a:solidFill>
                <a:latin typeface="Calibri"/>
                <a:cs typeface="Calibri"/>
              </a:rPr>
              <a:t>Each side can mock the other</a:t>
            </a:r>
            <a:endParaRPr lang="en-US" sz="1700" dirty="0"/>
          </a:p>
        </p:txBody>
      </p:sp>
      <p:sp>
        <p:nvSpPr>
          <p:cNvPr id="104" name="Shape 104"/>
          <p:cNvSpPr/>
          <p:nvPr/>
        </p:nvSpPr>
        <p:spPr>
          <a:xfrm>
            <a:off x="838505" y="5577840"/>
            <a:ext cx="10515600" cy="548640"/>
          </a:xfrm>
          <a:prstGeom prst="roundRect">
            <a:avLst>
              <a:gd name="adj" fmla="val 12000"/>
            </a:avLst>
          </a:prstGeom>
          <a:solidFill>
            <a:srgbClr val="6D28D9"/>
          </a:solidFill>
          <a:ln>
            <a:noFill/>
          </a:ln>
        </p:spPr>
        <p:txBody>
          <a:bodyPr wrap="square" lIns="109728" tIns="65837" rIns="109728" bIns="65837" rtlCol="0" anchor="ctr">
            <a:normAutofit/>
          </a:bodyPr>
          <a:lstStyle/>
          <a:p>
            <a:pPr marL="0" indent="0" algn="ctr">
              <a:spcAft>
                <a:spcPts val="0"/>
              </a:spcAft>
              <a:buNone/>
            </a:pPr>
            <a:r>
              <a:rPr lang="en-US" sz="1600" b="1" i="0" dirty="0">
                <a:solidFill>
                  <a:srgbClr val="FFFFFF"/>
                </a:solidFill>
                <a:latin typeface="Calibri"/>
                <a:cs typeface="Calibri"/>
              </a:rPr>
              <a:t>Nothing app-specific</a:t>
            </a:r>
            <a:r>
              <a:rPr lang="en-US" sz="1400" b="0" i="0" dirty="0">
                <a:solidFill>
                  <a:srgbClr val="E9E1FA"/>
                </a:solidFill>
                <a:latin typeface="Calibri"/>
                <a:cs typeface="Calibri"/>
              </a:rPr>
              <a:t>  No deep links, no web fallbacks — targets come from the live accessibility tree.</a:t>
            </a:r>
            <a:endParaRPr lang="en-US" sz="1600" dirty="0"/>
          </a:p>
        </p:txBody>
      </p:sp>
    </p:spTree>
    <p:extLst>
      <p:ext uri="{BB962C8B-B14F-4D97-AF65-F5344CB8AC3E}">
        <p14:creationId xmlns:p14="http://schemas.microsoft.com/office/powerpoint/2010/main" val="3724828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Impact &amp; Use case</a:t>
            </a:r>
            <a:endParaRPr lang="en-IN" b="1" dirty="0">
              <a:solidFill>
                <a:srgbClr val="704EA6"/>
              </a:solidFill>
            </a:endParaRPr>
          </a:p>
        </p:txBody>
      </p:sp>
      <p:sp>
        <p:nvSpPr>
          <p:cNvPr id="101" name="Shape 101"/>
          <p:cNvSpPr/>
          <p:nvPr/>
        </p:nvSpPr>
        <p:spPr>
          <a:xfrm>
            <a:off x="838505" y="1691640"/>
            <a:ext cx="5166360" cy="2148840"/>
          </a:xfrm>
          <a:prstGeom prst="roundRect">
            <a:avLst>
              <a:gd name="adj" fmla="val 5000"/>
            </a:avLst>
          </a:prstGeom>
          <a:solidFill>
            <a:srgbClr val="F3EFFC"/>
          </a:solidFill>
          <a:ln w="12700">
            <a:solidFill>
              <a:srgbClr val="D9D3F0"/>
            </a:solidFill>
          </a:ln>
        </p:spPr>
        <p:txBody>
          <a:bodyPr wrap="square" lIns="182880" tIns="109728" rIns="182880" bIns="109728" rtlCol="0" anchor="t">
            <a:normAutofit/>
          </a:bodyPr>
          <a:lstStyle/>
          <a:p>
            <a:pPr marL="0" indent="0" algn="l">
              <a:spcAft>
                <a:spcPts val="600"/>
              </a:spcAft>
              <a:buNone/>
            </a:pPr>
            <a:r>
              <a:rPr lang="en-US" sz="1100" b="1" i="0" spc="100" dirty="0">
                <a:solidFill>
                  <a:srgbClr val="6D28D9"/>
                </a:solidFill>
                <a:latin typeface="Calibri"/>
                <a:cs typeface="Calibri"/>
              </a:rPr>
              <a:t>USE CASE  ·  CLOUD RETURNS A PLAN</a:t>
            </a:r>
            <a:endParaRPr lang="en-US" sz="1100" dirty="0"/>
          </a:p>
          <a:p>
            <a:pPr marL="0" indent="0" algn="l">
              <a:spcAft>
                <a:spcPts val="300"/>
              </a:spcAft>
              <a:buNone/>
            </a:pPr>
            <a:r>
              <a:rPr lang="en-US" sz="1700" b="0" i="0" dirty="0">
                <a:solidFill>
                  <a:srgbClr val="14142B"/>
                </a:solidFill>
                <a:latin typeface="Consolas"/>
                <a:cs typeface="Consolas"/>
              </a:rPr>
              <a:t>Intent: </a:t>
            </a:r>
            <a:r>
              <a:rPr lang="en-US" sz="1700" b="1" i="0" dirty="0">
                <a:solidFill>
                  <a:srgbClr val="6D28D9"/>
                </a:solidFill>
                <a:latin typeface="Consolas"/>
                <a:cs typeface="Consolas"/>
              </a:rPr>
              <a:t>order_food</a:t>
            </a:r>
            <a:endParaRPr lang="en-US" sz="1400" dirty="0"/>
          </a:p>
          <a:p>
            <a:pPr marL="0" indent="0" algn="l">
              <a:spcAft>
                <a:spcPts val="300"/>
              </a:spcAft>
              <a:buNone/>
            </a:pPr>
            <a:r>
              <a:rPr lang="en-US" sz="1700" b="0" i="0" dirty="0">
                <a:solidFill>
                  <a:srgbClr val="14142B"/>
                </a:solidFill>
                <a:latin typeface="Consolas"/>
                <a:cs typeface="Consolas"/>
              </a:rPr>
              <a:t>Restaurant: </a:t>
            </a:r>
            <a:r>
              <a:rPr lang="en-US" sz="1700" b="1" i="0" dirty="0">
                <a:solidFill>
                  <a:srgbClr val="6D28D9"/>
                </a:solidFill>
                <a:latin typeface="Consolas"/>
                <a:cs typeface="Consolas"/>
              </a:rPr>
              <a:t>Dominos</a:t>
            </a:r>
            <a:endParaRPr lang="en-US" sz="1400" dirty="0"/>
          </a:p>
          <a:p>
            <a:pPr marL="0" indent="0" algn="l">
              <a:spcAft>
                <a:spcPts val="300"/>
              </a:spcAft>
              <a:buNone/>
            </a:pPr>
            <a:r>
              <a:rPr lang="en-US" sz="1700" b="0" i="0" dirty="0">
                <a:solidFill>
                  <a:srgbClr val="14142B"/>
                </a:solidFill>
                <a:latin typeface="Consolas"/>
                <a:cs typeface="Consolas"/>
              </a:rPr>
              <a:t>Item: </a:t>
            </a:r>
            <a:r>
              <a:rPr lang="en-US" sz="1700" b="1" i="0" dirty="0">
                <a:solidFill>
                  <a:srgbClr val="6D28D9"/>
                </a:solidFill>
                <a:latin typeface="Consolas"/>
                <a:cs typeface="Consolas"/>
              </a:rPr>
              <a:t>Margherita Pizza</a:t>
            </a:r>
            <a:endParaRPr lang="en-US" sz="1400" dirty="0"/>
          </a:p>
          <a:p>
            <a:pPr marL="0" indent="0" algn="l">
              <a:spcAft>
                <a:spcPts val="300"/>
              </a:spcAft>
              <a:buNone/>
            </a:pPr>
            <a:r>
              <a:rPr lang="en-US" sz="1700" b="0" i="0" dirty="0">
                <a:solidFill>
                  <a:srgbClr val="14142B"/>
                </a:solidFill>
                <a:latin typeface="Consolas"/>
                <a:cs typeface="Consolas"/>
              </a:rPr>
              <a:t>Quantity: </a:t>
            </a:r>
            <a:r>
              <a:rPr lang="en-US" sz="1700" b="1" i="0" dirty="0">
                <a:solidFill>
                  <a:srgbClr val="6D28D9"/>
                </a:solidFill>
                <a:latin typeface="Consolas"/>
                <a:cs typeface="Consolas"/>
              </a:rPr>
              <a:t>1</a:t>
            </a:r>
            <a:endParaRPr lang="en-US" sz="1400" dirty="0"/>
          </a:p>
        </p:txBody>
      </p:sp>
      <p:sp>
        <p:nvSpPr>
          <p:cNvPr id="102" name="Shape 102"/>
          <p:cNvSpPr/>
          <p:nvPr/>
        </p:nvSpPr>
        <p:spPr>
          <a:xfrm>
            <a:off x="6187745" y="1691640"/>
            <a:ext cx="5166360" cy="2148840"/>
          </a:xfrm>
          <a:prstGeom prst="roundRect">
            <a:avLst>
              <a:gd name="adj" fmla="val 5000"/>
            </a:avLst>
          </a:prstGeom>
          <a:solidFill>
            <a:srgbClr val="F3EFFC"/>
          </a:solidFill>
          <a:ln w="12700">
            <a:solidFill>
              <a:srgbClr val="D9D3F0"/>
            </a:solidFill>
          </a:ln>
        </p:spPr>
        <p:txBody>
          <a:bodyPr wrap="square" lIns="182880" tIns="109728" rIns="182880" bIns="109728" rtlCol="0" anchor="t">
            <a:normAutofit/>
          </a:bodyPr>
          <a:lstStyle/>
          <a:p>
            <a:pPr marL="0" indent="0" algn="l">
              <a:spcAft>
                <a:spcPts val="600"/>
              </a:spcAft>
              <a:buNone/>
            </a:pPr>
            <a:r>
              <a:rPr lang="en-US" sz="1100" b="1" i="0" spc="100" dirty="0">
                <a:solidFill>
                  <a:srgbClr val="6D28D9"/>
                </a:solidFill>
                <a:latin typeface="Calibri"/>
                <a:cs typeface="Calibri"/>
              </a:rPr>
              <a:t>GENERALIZED  ·  ONE FLOW, CHANGED VALUES</a:t>
            </a:r>
            <a:endParaRPr lang="en-US" sz="1100" dirty="0"/>
          </a:p>
          <a:p>
            <a:pPr marL="0" indent="0" algn="l">
              <a:spcAft>
                <a:spcPts val="300"/>
              </a:spcAft>
              <a:buNone/>
            </a:pPr>
            <a:r>
              <a:rPr lang="en-US" sz="1700" b="0" i="0" dirty="0">
                <a:solidFill>
                  <a:srgbClr val="14142B"/>
                </a:solidFill>
                <a:latin typeface="Consolas"/>
                <a:cs typeface="Consolas"/>
              </a:rPr>
              <a:t>SEARCH </a:t>
            </a:r>
            <a:r>
              <a:rPr lang="en-US" sz="1700" b="1" i="0" dirty="0">
                <a:solidFill>
                  <a:srgbClr val="6D28D9"/>
                </a:solidFill>
                <a:latin typeface="Consolas"/>
                <a:cs typeface="Consolas"/>
              </a:rPr>
              <a:t>{{item}}</a:t>
            </a:r>
            <a:endParaRPr lang="en-US" sz="1400" dirty="0"/>
          </a:p>
          <a:p>
            <a:pPr marL="0" indent="0" algn="l">
              <a:spcAft>
                <a:spcPts val="300"/>
              </a:spcAft>
              <a:buNone/>
            </a:pPr>
            <a:r>
              <a:rPr lang="en-US" sz="1700" b="0" i="0" dirty="0">
                <a:solidFill>
                  <a:srgbClr val="14142B"/>
                </a:solidFill>
                <a:latin typeface="Consolas"/>
                <a:cs typeface="Consolas"/>
              </a:rPr>
              <a:t>SELECT </a:t>
            </a:r>
            <a:r>
              <a:rPr lang="en-US" sz="1700" b="1" i="0" dirty="0">
                <a:solidFill>
                  <a:srgbClr val="6D28D9"/>
                </a:solidFill>
                <a:latin typeface="Consolas"/>
                <a:cs typeface="Consolas"/>
              </a:rPr>
              <a:t>{{restaurant}}</a:t>
            </a:r>
            <a:endParaRPr lang="en-US" sz="1400" dirty="0"/>
          </a:p>
          <a:p>
            <a:pPr marL="0" indent="0" algn="l">
              <a:spcAft>
                <a:spcPts val="300"/>
              </a:spcAft>
              <a:buNone/>
            </a:pPr>
            <a:r>
              <a:rPr lang="en-US" sz="1700" b="0" i="0" dirty="0">
                <a:solidFill>
                  <a:srgbClr val="14142B"/>
                </a:solidFill>
                <a:latin typeface="Consolas"/>
                <a:cs typeface="Consolas"/>
              </a:rPr>
              <a:t>QUANTITY </a:t>
            </a:r>
            <a:r>
              <a:rPr lang="en-US" sz="1700" b="1" i="0" dirty="0">
                <a:solidFill>
                  <a:srgbClr val="6D28D9"/>
                </a:solidFill>
                <a:latin typeface="Consolas"/>
                <a:cs typeface="Consolas"/>
              </a:rPr>
              <a:t>{{quantity}}</a:t>
            </a:r>
            <a:endParaRPr lang="en-US" sz="1400" dirty="0"/>
          </a:p>
          <a:p>
            <a:pPr marL="0" indent="0" algn="l">
              <a:spcAft>
                <a:spcPts val="0"/>
              </a:spcAft>
              <a:buNone/>
            </a:pPr>
            <a:r>
              <a:rPr lang="en-US" sz="1400" b="0" i="0" dirty="0">
                <a:solidFill>
                  <a:srgbClr val="63637E"/>
                </a:solidFill>
                <a:latin typeface="Calibri"/>
                <a:cs typeface="Calibri"/>
              </a:rPr>
              <a:t>Taught once with “Margherita”, “Dominos”, 1.</a:t>
            </a:r>
            <a:endParaRPr lang="en-US" sz="1300" dirty="0"/>
          </a:p>
        </p:txBody>
      </p:sp>
      <p:sp>
        <p:nvSpPr>
          <p:cNvPr id="103" name="Shape 103"/>
          <p:cNvSpPr/>
          <p:nvPr/>
        </p:nvSpPr>
        <p:spPr>
          <a:xfrm>
            <a:off x="838505" y="4069080"/>
            <a:ext cx="3383280" cy="2057400"/>
          </a:xfrm>
          <a:prstGeom prst="roundRect">
            <a:avLst>
              <a:gd name="adj" fmla="val 5000"/>
            </a:avLst>
          </a:prstGeom>
          <a:solidFill>
            <a:srgbClr val="F3EFFC"/>
          </a:solidFill>
          <a:ln w="12700">
            <a:solidFill>
              <a:srgbClr val="D9D3F0"/>
            </a:solidFill>
          </a:ln>
        </p:spPr>
        <p:txBody>
          <a:bodyPr wrap="square" lIns="164592" tIns="98755" rIns="164592" bIns="98755" rtlCol="0" anchor="t">
            <a:normAutofit/>
          </a:bodyPr>
          <a:lstStyle/>
          <a:p>
            <a:pPr marL="0" indent="0" algn="l">
              <a:spcAft>
                <a:spcPts val="300"/>
              </a:spcAft>
              <a:buNone/>
            </a:pPr>
            <a:r>
              <a:rPr lang="en-US" sz="1100" b="1" i="0" spc="100" dirty="0">
                <a:solidFill>
                  <a:srgbClr val="6D28D9"/>
                </a:solidFill>
                <a:latin typeface="Calibri"/>
                <a:cs typeface="Calibri"/>
              </a:rPr>
              <a:t>TEACH ONCE</a:t>
            </a:r>
            <a:endParaRPr lang="en-US" sz="1100" dirty="0"/>
          </a:p>
          <a:p>
            <a:pPr marL="0" indent="0" algn="l">
              <a:spcAft>
                <a:spcPts val="600"/>
              </a:spcAft>
              <a:buNone/>
            </a:pPr>
            <a:r>
              <a:rPr lang="en-US" sz="1900" b="1" i="0" dirty="0">
                <a:solidFill>
                  <a:srgbClr val="14142B"/>
                </a:solidFill>
                <a:latin typeface="Calibri"/>
                <a:cs typeface="Calibri"/>
              </a:rPr>
              <a:t>Reuse by voice</a:t>
            </a:r>
            <a:endParaRPr lang="en-US" sz="1900" dirty="0"/>
          </a:p>
          <a:p>
            <a:pPr marL="0" indent="0" algn="l">
              <a:spcAft>
                <a:spcPts val="0"/>
              </a:spcAft>
              <a:buNone/>
            </a:pPr>
            <a:r>
              <a:rPr lang="en-US" sz="1550" b="0" i="0" dirty="0">
                <a:solidFill>
                  <a:srgbClr val="63637E"/>
                </a:solidFill>
                <a:latin typeface="Calibri"/>
                <a:cs typeface="Calibri"/>
              </a:rPr>
              <a:t>A demonstration becomes a reusable flow, replayed from exact or paraphrased commands.</a:t>
            </a:r>
            <a:endParaRPr lang="en-US" sz="1550" dirty="0"/>
          </a:p>
        </p:txBody>
      </p:sp>
      <p:sp>
        <p:nvSpPr>
          <p:cNvPr id="104" name="Shape 104"/>
          <p:cNvSpPr/>
          <p:nvPr/>
        </p:nvSpPr>
        <p:spPr>
          <a:xfrm>
            <a:off x="4404665" y="4069080"/>
            <a:ext cx="3383280" cy="2057400"/>
          </a:xfrm>
          <a:prstGeom prst="roundRect">
            <a:avLst>
              <a:gd name="adj" fmla="val 5000"/>
            </a:avLst>
          </a:prstGeom>
          <a:solidFill>
            <a:srgbClr val="F3EFFC"/>
          </a:solidFill>
          <a:ln w="12700">
            <a:solidFill>
              <a:srgbClr val="D9D3F0"/>
            </a:solidFill>
          </a:ln>
        </p:spPr>
        <p:txBody>
          <a:bodyPr wrap="square" lIns="164592" tIns="98755" rIns="164592" bIns="98755" rtlCol="0" anchor="t">
            <a:normAutofit/>
          </a:bodyPr>
          <a:lstStyle/>
          <a:p>
            <a:pPr marL="0" indent="0" algn="l">
              <a:spcAft>
                <a:spcPts val="300"/>
              </a:spcAft>
              <a:buNone/>
            </a:pPr>
            <a:r>
              <a:rPr lang="en-US" sz="1100" b="1" i="0" spc="100" dirty="0">
                <a:solidFill>
                  <a:srgbClr val="6D28D9"/>
                </a:solidFill>
                <a:latin typeface="Calibri"/>
                <a:cs typeface="Calibri"/>
              </a:rPr>
              <a:t>ANY THIRD-PARTY APP</a:t>
            </a:r>
            <a:endParaRPr lang="en-US" sz="1100" dirty="0"/>
          </a:p>
          <a:p>
            <a:pPr marL="0" indent="0" algn="l">
              <a:spcAft>
                <a:spcPts val="600"/>
              </a:spcAft>
              <a:buNone/>
            </a:pPr>
            <a:r>
              <a:rPr lang="en-US" sz="1900" b="1" i="0" dirty="0">
                <a:solidFill>
                  <a:srgbClr val="14142B"/>
                </a:solidFill>
                <a:latin typeface="Calibri"/>
                <a:cs typeface="Calibri"/>
              </a:rPr>
              <a:t>Semantic, not scripted</a:t>
            </a:r>
            <a:endParaRPr lang="en-US" sz="1900" dirty="0"/>
          </a:p>
          <a:p>
            <a:pPr marL="0" indent="0" algn="l">
              <a:spcAft>
                <a:spcPts val="0"/>
              </a:spcAft>
              <a:buNone/>
            </a:pPr>
            <a:r>
              <a:rPr lang="en-US" sz="1550" b="0" i="0" dirty="0">
                <a:solidFill>
                  <a:srgbClr val="63637E"/>
                </a:solidFill>
                <a:latin typeface="Calibri"/>
                <a:cs typeface="Calibri"/>
              </a:rPr>
              <a:t>Targets come from the live accessibility tree, so flows adapt to changed layouts and popups.</a:t>
            </a:r>
            <a:endParaRPr lang="en-US" sz="1550" dirty="0"/>
          </a:p>
        </p:txBody>
      </p:sp>
      <p:sp>
        <p:nvSpPr>
          <p:cNvPr id="105" name="Shape 105"/>
          <p:cNvSpPr/>
          <p:nvPr/>
        </p:nvSpPr>
        <p:spPr>
          <a:xfrm>
            <a:off x="7970825" y="4069080"/>
            <a:ext cx="3383280" cy="2057400"/>
          </a:xfrm>
          <a:prstGeom prst="roundRect">
            <a:avLst>
              <a:gd name="adj" fmla="val 5000"/>
            </a:avLst>
          </a:prstGeom>
          <a:solidFill>
            <a:srgbClr val="F3EFFC"/>
          </a:solidFill>
          <a:ln w="12700">
            <a:solidFill>
              <a:srgbClr val="D9D3F0"/>
            </a:solidFill>
          </a:ln>
        </p:spPr>
        <p:txBody>
          <a:bodyPr wrap="square" lIns="164592" tIns="98755" rIns="164592" bIns="98755" rtlCol="0" anchor="t">
            <a:normAutofit/>
          </a:bodyPr>
          <a:lstStyle/>
          <a:p>
            <a:pPr marL="0" indent="0" algn="l">
              <a:spcAft>
                <a:spcPts val="300"/>
              </a:spcAft>
              <a:buNone/>
            </a:pPr>
            <a:r>
              <a:rPr lang="en-US" sz="1100" b="1" i="0" spc="100" dirty="0">
                <a:solidFill>
                  <a:srgbClr val="6D28D9"/>
                </a:solidFill>
                <a:latin typeface="Calibri"/>
                <a:cs typeface="Calibri"/>
              </a:rPr>
              <a:t>SAFE BY DESIGN</a:t>
            </a:r>
            <a:endParaRPr lang="en-US" sz="1100" dirty="0"/>
          </a:p>
          <a:p>
            <a:pPr marL="0" indent="0" algn="l">
              <a:spcAft>
                <a:spcPts val="600"/>
              </a:spcAft>
              <a:buNone/>
            </a:pPr>
            <a:r>
              <a:rPr lang="en-US" sz="1900" b="1" i="0" dirty="0">
                <a:solidFill>
                  <a:srgbClr val="14142B"/>
                </a:solidFill>
                <a:latin typeface="Calibri"/>
                <a:cs typeface="Calibri"/>
              </a:rPr>
              <a:t>Hard safety boundary</a:t>
            </a:r>
            <a:endParaRPr lang="en-US" sz="1900" dirty="0"/>
          </a:p>
          <a:p>
            <a:pPr marL="0" indent="0" algn="l">
              <a:spcAft>
                <a:spcPts val="0"/>
              </a:spcAft>
              <a:buNone/>
            </a:pPr>
            <a:r>
              <a:rPr lang="en-US" sz="1550" b="0" i="0" dirty="0">
                <a:solidFill>
                  <a:srgbClr val="63637E"/>
                </a:solidFill>
                <a:latin typeface="Calibri"/>
                <a:cs typeface="Calibri"/>
              </a:rPr>
              <a:t>Automation stops at payment, OTP, password, PIN and authentication; credentials are never stored.</a:t>
            </a:r>
            <a:endParaRPr lang="en-US" sz="1550" dirty="0"/>
          </a:p>
        </p:txBody>
      </p:sp>
    </p:spTree>
    <p:extLst>
      <p:ext uri="{BB962C8B-B14F-4D97-AF65-F5344CB8AC3E}">
        <p14:creationId xmlns:p14="http://schemas.microsoft.com/office/powerpoint/2010/main" val="366811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Innovation highlights, results and limitations</a:t>
            </a:r>
            <a:endParaRPr lang="en-US" sz="4400" b="1" dirty="0">
              <a:solidFill>
                <a:srgbClr val="704EA6"/>
              </a:solidFill>
            </a:endParaRPr>
          </a:p>
        </p:txBody>
      </p:sp>
      <p:sp>
        <p:nvSpPr>
          <p:cNvPr id="101" name="Shape 101"/>
          <p:cNvSpPr/>
          <p:nvPr/>
        </p:nvSpPr>
        <p:spPr>
          <a:xfrm>
            <a:off x="838505" y="1691640"/>
            <a:ext cx="3383280" cy="4434840"/>
          </a:xfrm>
          <a:prstGeom prst="roundRect">
            <a:avLst>
              <a:gd name="adj" fmla="val 5000"/>
            </a:avLst>
          </a:prstGeom>
          <a:solidFill>
            <a:srgbClr val="F3EFFC"/>
          </a:solidFill>
          <a:ln w="12700">
            <a:solidFill>
              <a:srgbClr val="D9D3F0"/>
            </a:solidFill>
          </a:ln>
        </p:spPr>
        <p:txBody>
          <a:bodyPr wrap="square" lIns="164592" tIns="98755" rIns="164592" bIns="98755" rtlCol="0" anchor="t">
            <a:normAutofit/>
          </a:bodyPr>
          <a:lstStyle/>
          <a:p>
            <a:pPr marL="0" indent="0" algn="l">
              <a:spcAft>
                <a:spcPts val="300"/>
              </a:spcAft>
              <a:buNone/>
            </a:pPr>
            <a:r>
              <a:rPr lang="en-US" sz="1100" b="1" i="0" spc="100" dirty="0">
                <a:solidFill>
                  <a:srgbClr val="6D28D9"/>
                </a:solidFill>
                <a:latin typeface="Calibri"/>
                <a:cs typeface="Calibri"/>
              </a:rPr>
              <a:t>INNOVATION</a:t>
            </a:r>
            <a:endParaRPr lang="en-US" sz="1100" dirty="0"/>
          </a:p>
          <a:p>
            <a:pPr marL="0" indent="0" algn="l">
              <a:spcAft>
                <a:spcPts val="600"/>
              </a:spcAft>
              <a:buNone/>
            </a:pPr>
            <a:r>
              <a:rPr lang="en-US" sz="1700" b="1" i="0" dirty="0">
                <a:solidFill>
                  <a:srgbClr val="14142B"/>
                </a:solidFill>
                <a:latin typeface="Calibri"/>
                <a:cs typeface="Calibri"/>
              </a:rPr>
              <a:t>Highlights</a:t>
            </a:r>
            <a:endParaRPr lang="en-US" sz="1700" dirty="0"/>
          </a:p>
          <a:p>
            <a:pPr marL="228600" indent="-228600" algn="l">
              <a:spcAft>
                <a:spcPts val="400"/>
              </a:spcAft>
              <a:buClr>
                <a:srgbClr val="6D28D9"/>
              </a:buClr>
              <a:buFont typeface="Arial"/>
              <a:buChar char="•"/>
            </a:pPr>
            <a:r>
              <a:rPr lang="en-US" sz="1700" b="0" i="0" dirty="0">
                <a:solidFill>
                  <a:srgbClr val="63637E"/>
                </a:solidFill>
                <a:latin typeface="Calibri"/>
                <a:cs typeface="Calibri"/>
              </a:rPr>
              <a:t>Taught live, no prebaked scripts</a:t>
            </a:r>
            <a:endParaRPr lang="en-US" sz="1700" dirty="0"/>
          </a:p>
          <a:p>
            <a:pPr marL="228600" indent="-228600" algn="l">
              <a:spcAft>
                <a:spcPts val="400"/>
              </a:spcAft>
              <a:buClr>
                <a:srgbClr val="6D28D9"/>
              </a:buClr>
              <a:buFont typeface="Arial"/>
              <a:buChar char="•"/>
            </a:pPr>
            <a:r>
              <a:rPr lang="en-US" sz="1700" b="0" i="0" dirty="0">
                <a:solidFill>
                  <a:srgbClr val="63637E"/>
                </a:solidFill>
                <a:latin typeface="Calibri"/>
                <a:cs typeface="Calibri"/>
              </a:rPr>
              <a:t>Semantic targets, not coordinates</a:t>
            </a:r>
            <a:endParaRPr lang="en-US" sz="1700" dirty="0"/>
          </a:p>
          <a:p>
            <a:pPr marL="228600" indent="-228600" algn="l">
              <a:spcAft>
                <a:spcPts val="400"/>
              </a:spcAft>
              <a:buClr>
                <a:srgbClr val="6D28D9"/>
              </a:buClr>
              <a:buFont typeface="Arial"/>
              <a:buChar char="•"/>
            </a:pPr>
            <a:r>
              <a:rPr lang="en-US" sz="1700" b="0" i="0" dirty="0">
                <a:solidFill>
                  <a:srgbClr val="63637E"/>
                </a:solidFill>
                <a:latin typeface="Calibri"/>
                <a:cs typeface="Calibri"/>
              </a:rPr>
              <a:t>Cloud reasons, Android acts (LLM ≠ control)</a:t>
            </a:r>
            <a:endParaRPr lang="en-US" sz="1700" dirty="0"/>
          </a:p>
          <a:p>
            <a:pPr marL="228600" indent="-228600" algn="l">
              <a:spcAft>
                <a:spcPts val="400"/>
              </a:spcAft>
              <a:buClr>
                <a:srgbClr val="6D28D9"/>
              </a:buClr>
              <a:buFont typeface="Arial"/>
              <a:buChar char="•"/>
            </a:pPr>
            <a:r>
              <a:rPr lang="en-US" sz="1700" b="0" i="0" dirty="0">
                <a:solidFill>
                  <a:srgbClr val="63637E"/>
                </a:solidFill>
                <a:latin typeface="Calibri"/>
                <a:cs typeface="Calibri"/>
              </a:rPr>
              <a:t>Replay is an inspect–verify loop</a:t>
            </a:r>
            <a:endParaRPr lang="en-US" sz="1700" dirty="0"/>
          </a:p>
          <a:p>
            <a:pPr marL="228600" indent="-228600" algn="l">
              <a:spcAft>
                <a:spcPts val="400"/>
              </a:spcAft>
              <a:buClr>
                <a:srgbClr val="6D28D9"/>
              </a:buClr>
              <a:buFont typeface="Arial"/>
              <a:buChar char="•"/>
            </a:pPr>
            <a:r>
              <a:rPr lang="en-US" sz="1700" b="0" i="0" dirty="0">
                <a:solidFill>
                  <a:srgbClr val="63637E"/>
                </a:solidFill>
                <a:latin typeface="Calibri"/>
                <a:cs typeface="Calibri"/>
              </a:rPr>
              <a:t>Hard stop at sensitive screens</a:t>
            </a:r>
            <a:endParaRPr lang="en-US" sz="1700" dirty="0"/>
          </a:p>
        </p:txBody>
      </p:sp>
      <p:sp>
        <p:nvSpPr>
          <p:cNvPr id="102" name="Shape 102"/>
          <p:cNvSpPr/>
          <p:nvPr/>
        </p:nvSpPr>
        <p:spPr>
          <a:xfrm>
            <a:off x="4404665" y="1691640"/>
            <a:ext cx="3383280" cy="4434840"/>
          </a:xfrm>
          <a:prstGeom prst="roundRect">
            <a:avLst>
              <a:gd name="adj" fmla="val 5000"/>
            </a:avLst>
          </a:prstGeom>
          <a:solidFill>
            <a:srgbClr val="F3EFFC"/>
          </a:solidFill>
          <a:ln w="12700">
            <a:solidFill>
              <a:srgbClr val="D9D3F0"/>
            </a:solidFill>
          </a:ln>
        </p:spPr>
        <p:txBody>
          <a:bodyPr wrap="square" lIns="164592" tIns="98755" rIns="164592" bIns="98755" rtlCol="0" anchor="t">
            <a:normAutofit/>
          </a:bodyPr>
          <a:lstStyle/>
          <a:p>
            <a:pPr marL="0" indent="0" algn="l">
              <a:spcAft>
                <a:spcPts val="300"/>
              </a:spcAft>
              <a:buNone/>
            </a:pPr>
            <a:r>
              <a:rPr lang="en-US" sz="1100" b="1" i="0" spc="100" dirty="0">
                <a:solidFill>
                  <a:srgbClr val="6D28D9"/>
                </a:solidFill>
                <a:latin typeface="Calibri"/>
                <a:cs typeface="Calibri"/>
              </a:rPr>
              <a:t>RESULTS SO FAR</a:t>
            </a:r>
            <a:endParaRPr lang="en-US" sz="1100" dirty="0"/>
          </a:p>
          <a:p>
            <a:pPr marL="0" indent="0" algn="l">
              <a:spcAft>
                <a:spcPts val="600"/>
              </a:spcAft>
              <a:buNone/>
            </a:pPr>
            <a:r>
              <a:rPr lang="en-US" sz="1700" b="1" i="0" dirty="0">
                <a:solidFill>
                  <a:srgbClr val="14142B"/>
                </a:solidFill>
                <a:latin typeface="Calibri"/>
                <a:cs typeface="Calibri"/>
              </a:rPr>
              <a:t>Android foundation built</a:t>
            </a:r>
            <a:endParaRPr lang="en-US" sz="1700" dirty="0"/>
          </a:p>
          <a:p>
            <a:pPr marL="228600" indent="-228600" algn="l">
              <a:spcAft>
                <a:spcPts val="400"/>
              </a:spcAft>
              <a:buClr>
                <a:srgbClr val="6D28D9"/>
              </a:buClr>
              <a:buFont typeface="Arial"/>
              <a:buChar char="•"/>
            </a:pPr>
            <a:r>
              <a:rPr lang="en-US" sz="1700" b="0" i="0" dirty="0">
                <a:solidFill>
                  <a:srgbClr val="63637E"/>
                </a:solidFill>
                <a:latin typeface="Calibri"/>
                <a:cs typeface="Calibri"/>
              </a:rPr>
              <a:t>AccessibilityService foundation</a:t>
            </a:r>
            <a:endParaRPr lang="en-US" sz="1700" dirty="0"/>
          </a:p>
          <a:p>
            <a:pPr marL="228600" indent="-228600" algn="l">
              <a:spcAft>
                <a:spcPts val="400"/>
              </a:spcAft>
              <a:buClr>
                <a:srgbClr val="6D28D9"/>
              </a:buClr>
              <a:buFont typeface="Arial"/>
              <a:buChar char="•"/>
            </a:pPr>
            <a:r>
              <a:rPr lang="en-US" sz="1700" b="0" i="0" dirty="0">
                <a:solidFill>
                  <a:srgbClr val="63637E"/>
                </a:solidFill>
                <a:latin typeface="Calibri"/>
                <a:cs typeface="Calibri"/>
              </a:rPr>
              <a:t>UI tree inspection</a:t>
            </a:r>
            <a:endParaRPr lang="en-US" sz="1700" dirty="0"/>
          </a:p>
          <a:p>
            <a:pPr marL="228600" indent="-228600" algn="l">
              <a:spcAft>
                <a:spcPts val="400"/>
              </a:spcAft>
              <a:buClr>
                <a:srgbClr val="6D28D9"/>
              </a:buClr>
              <a:buFont typeface="Arial"/>
              <a:buChar char="•"/>
            </a:pPr>
            <a:r>
              <a:rPr lang="en-US" sz="1700" b="0" i="0" dirty="0">
                <a:solidFill>
                  <a:srgbClr val="63637E"/>
                </a:solidFill>
                <a:latin typeface="Calibri"/>
                <a:cs typeface="Calibri"/>
              </a:rPr>
              <a:t>Click detection</a:t>
            </a:r>
            <a:endParaRPr lang="en-US" sz="1700" dirty="0"/>
          </a:p>
          <a:p>
            <a:pPr marL="228600" indent="-228600" algn="l">
              <a:spcAft>
                <a:spcPts val="400"/>
              </a:spcAft>
              <a:buClr>
                <a:srgbClr val="6D28D9"/>
              </a:buClr>
              <a:buFont typeface="Arial"/>
              <a:buChar char="•"/>
            </a:pPr>
            <a:r>
              <a:rPr lang="en-US" sz="1700" b="0" i="0" dirty="0">
                <a:solidFill>
                  <a:srgbClr val="63637E"/>
                </a:solidFill>
                <a:latin typeface="Calibri"/>
                <a:cs typeface="Calibri"/>
              </a:rPr>
              <a:t>Semantic targets</a:t>
            </a:r>
            <a:endParaRPr lang="en-US" sz="1700" dirty="0"/>
          </a:p>
          <a:p>
            <a:pPr marL="228600" indent="-228600" algn="l">
              <a:spcAft>
                <a:spcPts val="400"/>
              </a:spcAft>
              <a:buClr>
                <a:srgbClr val="6D28D9"/>
              </a:buClr>
              <a:buFont typeface="Arial"/>
              <a:buChar char="•"/>
            </a:pPr>
            <a:r>
              <a:rPr lang="en-US" sz="1700" b="0" i="0" dirty="0">
                <a:solidFill>
                  <a:srgbClr val="63637E"/>
                </a:solidFill>
                <a:latin typeface="Calibri"/>
                <a:cs typeface="Calibri"/>
              </a:rPr>
              <a:t>Teaching actions + recorder</a:t>
            </a:r>
            <a:endParaRPr lang="en-US" sz="1700" dirty="0"/>
          </a:p>
          <a:p>
            <a:pPr marL="228600" indent="-228600" algn="l">
              <a:spcAft>
                <a:spcPts val="400"/>
              </a:spcAft>
              <a:buClr>
                <a:srgbClr val="6D28D9"/>
              </a:buClr>
              <a:buFont typeface="Arial"/>
              <a:buChar char="•"/>
            </a:pPr>
            <a:r>
              <a:rPr lang="en-US" sz="1700" b="0" i="0" dirty="0">
                <a:solidFill>
                  <a:srgbClr val="63637E"/>
                </a:solidFill>
                <a:latin typeface="Calibri"/>
                <a:cs typeface="Calibri"/>
              </a:rPr>
              <a:t>Sensitive-field protection</a:t>
            </a:r>
            <a:endParaRPr lang="en-US" sz="1700" dirty="0"/>
          </a:p>
        </p:txBody>
      </p:sp>
      <p:sp>
        <p:nvSpPr>
          <p:cNvPr id="103" name="Shape 103"/>
          <p:cNvSpPr/>
          <p:nvPr/>
        </p:nvSpPr>
        <p:spPr>
          <a:xfrm>
            <a:off x="7970825" y="1691640"/>
            <a:ext cx="3383280" cy="4434840"/>
          </a:xfrm>
          <a:prstGeom prst="roundRect">
            <a:avLst>
              <a:gd name="adj" fmla="val 5000"/>
            </a:avLst>
          </a:prstGeom>
          <a:solidFill>
            <a:srgbClr val="F7F7FA"/>
          </a:solidFill>
          <a:ln w="12700">
            <a:solidFill>
              <a:srgbClr val="E2E2EA"/>
            </a:solidFill>
          </a:ln>
        </p:spPr>
        <p:txBody>
          <a:bodyPr wrap="square" lIns="164592" tIns="98755" rIns="164592" bIns="98755" rtlCol="0" anchor="t">
            <a:normAutofit/>
          </a:bodyPr>
          <a:lstStyle/>
          <a:p>
            <a:pPr marL="0" indent="0" algn="l">
              <a:spcAft>
                <a:spcPts val="300"/>
              </a:spcAft>
              <a:buNone/>
            </a:pPr>
            <a:r>
              <a:rPr lang="en-US" sz="1100" b="1" i="0" spc="100" dirty="0">
                <a:solidFill>
                  <a:srgbClr val="6D28D9"/>
                </a:solidFill>
                <a:latin typeface="Calibri"/>
                <a:cs typeface="Calibri"/>
              </a:rPr>
              <a:t>LIMITATIONS</a:t>
            </a:r>
            <a:endParaRPr lang="en-US" sz="1100" dirty="0"/>
          </a:p>
          <a:p>
            <a:pPr marL="0" indent="0" algn="l">
              <a:spcAft>
                <a:spcPts val="600"/>
              </a:spcAft>
              <a:buNone/>
            </a:pPr>
            <a:r>
              <a:rPr lang="en-US" sz="1700" b="1" i="0" dirty="0">
                <a:solidFill>
                  <a:srgbClr val="14142B"/>
                </a:solidFill>
                <a:latin typeface="Calibri"/>
                <a:cs typeface="Calibri"/>
              </a:rPr>
              <a:t>Still in progress</a:t>
            </a:r>
            <a:endParaRPr lang="en-US" sz="1700" dirty="0"/>
          </a:p>
          <a:p>
            <a:pPr marL="228600" indent="-228600" algn="l">
              <a:spcAft>
                <a:spcPts val="400"/>
              </a:spcAft>
              <a:buClr>
                <a:srgbClr val="6D28D9"/>
              </a:buClr>
              <a:buFont typeface="Arial"/>
              <a:buChar char="•"/>
            </a:pPr>
            <a:r>
              <a:rPr lang="en-US" sz="1700" b="0" i="0" dirty="0">
                <a:solidFill>
                  <a:srgbClr val="63637E"/>
                </a:solidFill>
                <a:latin typeface="Calibri"/>
                <a:cs typeface="Calibri"/>
              </a:rPr>
              <a:t>Reliable replay and multi-step flows</a:t>
            </a:r>
            <a:endParaRPr lang="en-US" sz="1700" dirty="0"/>
          </a:p>
          <a:p>
            <a:pPr marL="228600" indent="-228600" algn="l">
              <a:spcAft>
                <a:spcPts val="400"/>
              </a:spcAft>
              <a:buClr>
                <a:srgbClr val="6D28D9"/>
              </a:buClr>
              <a:buFont typeface="Arial"/>
              <a:buChar char="•"/>
            </a:pPr>
            <a:r>
              <a:rPr lang="en-US" sz="1700" b="0" i="0" dirty="0">
                <a:solidFill>
                  <a:srgbClr val="63637E"/>
                </a:solidFill>
                <a:latin typeface="Calibri"/>
                <a:cs typeface="Calibri"/>
              </a:rPr>
              <a:t>UI recovery and Cloud integration</a:t>
            </a:r>
            <a:endParaRPr lang="en-US" sz="1700" dirty="0"/>
          </a:p>
          <a:p>
            <a:pPr marL="228600" indent="-228600" algn="l">
              <a:spcAft>
                <a:spcPts val="400"/>
              </a:spcAft>
              <a:buClr>
                <a:srgbClr val="6D28D9"/>
              </a:buClr>
              <a:buFont typeface="Arial"/>
              <a:buChar char="•"/>
            </a:pPr>
            <a:r>
              <a:rPr lang="en-US" sz="1700" b="0" i="0" dirty="0">
                <a:solidFill>
                  <a:srgbClr val="63637E"/>
                </a:solidFill>
                <a:latin typeface="Calibri"/>
                <a:cs typeface="Calibri"/>
              </a:rPr>
              <a:t>Paraphrases and parameter substitution</a:t>
            </a:r>
            <a:endParaRPr lang="en-US" sz="1700" dirty="0"/>
          </a:p>
          <a:p>
            <a:pPr marL="228600" indent="-228600" algn="l">
              <a:spcAft>
                <a:spcPts val="400"/>
              </a:spcAft>
              <a:buClr>
                <a:srgbClr val="6D28D9"/>
              </a:buClr>
              <a:buFont typeface="Arial"/>
              <a:buChar char="•"/>
            </a:pPr>
            <a:r>
              <a:rPr lang="en-US" sz="1700" b="0" i="0" dirty="0">
                <a:solidFill>
                  <a:srgbClr val="63637E"/>
                </a:solidFill>
                <a:latin typeface="Calibri"/>
                <a:cs typeface="Calibri"/>
              </a:rPr>
              <a:t>Multi-app demo, end-to-end evaluation</a:t>
            </a:r>
            <a:endParaRPr lang="en-US" sz="1700" dirty="0"/>
          </a:p>
          <a:p>
            <a:pPr marL="228600" indent="-228600" algn="l">
              <a:spcAft>
                <a:spcPts val="400"/>
              </a:spcAft>
              <a:buClr>
                <a:srgbClr val="6D28D9"/>
              </a:buClr>
              <a:buFont typeface="Arial"/>
              <a:buChar char="•"/>
            </a:pPr>
            <a:r>
              <a:rPr lang="en-US" sz="1700" b="0" i="0" dirty="0">
                <a:solidFill>
                  <a:srgbClr val="63637E"/>
                </a:solidFill>
                <a:latin typeface="Calibri"/>
                <a:cs typeface="Calibri"/>
              </a:rPr>
              <a:t>If genuinely stuck, it reports the exact step or asks the user</a:t>
            </a:r>
            <a:endParaRPr lang="en-US" sz="1700" dirty="0"/>
          </a:p>
        </p:txBody>
      </p:sp>
    </p:spTree>
    <p:extLst>
      <p:ext uri="{BB962C8B-B14F-4D97-AF65-F5344CB8AC3E}">
        <p14:creationId xmlns:p14="http://schemas.microsoft.com/office/powerpoint/2010/main" val="1993237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What’s next</a:t>
            </a:r>
            <a:endParaRPr lang="en-US" sz="4400" b="1" dirty="0">
              <a:solidFill>
                <a:srgbClr val="704EA6"/>
              </a:solidFill>
            </a:endParaRPr>
          </a:p>
        </p:txBody>
      </p:sp>
      <p:sp>
        <p:nvSpPr>
          <p:cNvPr id="101" name="Shape 101"/>
          <p:cNvSpPr/>
          <p:nvPr/>
        </p:nvSpPr>
        <p:spPr>
          <a:xfrm>
            <a:off x="838505" y="1691640"/>
            <a:ext cx="10515600" cy="1097280"/>
          </a:xfrm>
          <a:prstGeom prst="roundRect">
            <a:avLst>
              <a:gd name="adj" fmla="val 6000"/>
            </a:avLst>
          </a:prstGeom>
          <a:solidFill>
            <a:srgbClr val="FAF8FE"/>
          </a:solidFill>
          <a:ln w="12700">
            <a:solidFill>
              <a:srgbClr val="D9D3F0"/>
            </a:solidFill>
          </a:ln>
        </p:spPr>
        <p:txBody>
          <a:bodyPr wrap="square" lIns="109728" tIns="65837" rIns="109728" bIns="65837" rtlCol="0" anchor="t">
            <a:normAutofit/>
          </a:bodyPr>
          <a:lstStyle/>
          <a:p>
            <a:endParaRPr lang="en-US"/>
          </a:p>
        </p:txBody>
      </p:sp>
      <p:sp>
        <p:nvSpPr>
          <p:cNvPr id="102" name="Shape 102"/>
          <p:cNvSpPr txBox="1"/>
          <p:nvPr/>
        </p:nvSpPr>
        <p:spPr>
          <a:xfrm>
            <a:off x="1021385" y="1691640"/>
            <a:ext cx="1371600" cy="1097280"/>
          </a:xfrm>
          <a:prstGeom prst="rect">
            <a:avLst/>
          </a:prstGeom>
          <a:noFill/>
          <a:ln>
            <a:noFill/>
          </a:ln>
        </p:spPr>
        <p:txBody>
          <a:bodyPr wrap="square" lIns="0" tIns="0" rIns="0" bIns="0" rtlCol="0" anchor="ctr">
            <a:normAutofit/>
          </a:bodyPr>
          <a:lstStyle/>
          <a:p>
            <a:pPr marL="0" indent="0" algn="l">
              <a:spcAft>
                <a:spcPts val="0"/>
              </a:spcAft>
              <a:buNone/>
            </a:pPr>
            <a:r>
              <a:rPr lang="en-US" sz="1100" b="1" i="0" spc="100" dirty="0">
                <a:solidFill>
                  <a:srgbClr val="6D28D9"/>
                </a:solidFill>
                <a:latin typeface="Calibri"/>
                <a:cs typeface="Calibri"/>
              </a:rPr>
              <a:t>ANDROID</a:t>
            </a:r>
            <a:endParaRPr lang="en-US" sz="1100" dirty="0"/>
          </a:p>
        </p:txBody>
      </p:sp>
      <p:sp>
        <p:nvSpPr>
          <p:cNvPr id="103" name="Shape 103"/>
          <p:cNvSpPr/>
          <p:nvPr/>
        </p:nvSpPr>
        <p:spPr>
          <a:xfrm>
            <a:off x="2575865" y="1874520"/>
            <a:ext cx="1110343" cy="73152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000" b="1" i="0" spc="60" dirty="0">
                <a:solidFill>
                  <a:srgbClr val="6D28D9"/>
                </a:solidFill>
                <a:latin typeface="Calibri"/>
                <a:cs typeface="Calibri"/>
              </a:rPr>
              <a:t>M1</a:t>
            </a:r>
            <a:endParaRPr lang="en-US" sz="1000" dirty="0"/>
          </a:p>
          <a:p>
            <a:pPr marL="0" indent="0" algn="ctr">
              <a:spcAft>
                <a:spcPts val="0"/>
              </a:spcAft>
              <a:buNone/>
            </a:pPr>
            <a:r>
              <a:rPr lang="en-US" sz="1350" b="1" i="0" dirty="0">
                <a:solidFill>
                  <a:srgbClr val="14142B"/>
                </a:solidFill>
                <a:latin typeface="Calibri"/>
                <a:cs typeface="Calibri"/>
              </a:rPr>
              <a:t>UI Tree</a:t>
            </a:r>
            <a:endParaRPr lang="en-US" sz="1350" dirty="0"/>
          </a:p>
        </p:txBody>
      </p:sp>
      <p:sp>
        <p:nvSpPr>
          <p:cNvPr id="104" name="Shape 104"/>
          <p:cNvSpPr/>
          <p:nvPr/>
        </p:nvSpPr>
        <p:spPr>
          <a:xfrm>
            <a:off x="3823368" y="1874520"/>
            <a:ext cx="1110343" cy="73152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000" b="1" i="0" spc="60" dirty="0">
                <a:solidFill>
                  <a:srgbClr val="6D28D9"/>
                </a:solidFill>
                <a:latin typeface="Calibri"/>
                <a:cs typeface="Calibri"/>
              </a:rPr>
              <a:t>M2</a:t>
            </a:r>
            <a:endParaRPr lang="en-US" sz="1000" dirty="0"/>
          </a:p>
          <a:p>
            <a:pPr marL="0" indent="0" algn="ctr">
              <a:spcAft>
                <a:spcPts val="0"/>
              </a:spcAft>
              <a:buNone/>
            </a:pPr>
            <a:r>
              <a:rPr lang="en-US" sz="1350" b="1" i="0" dirty="0">
                <a:solidFill>
                  <a:srgbClr val="14142B"/>
                </a:solidFill>
                <a:latin typeface="Calibri"/>
                <a:cs typeface="Calibri"/>
              </a:rPr>
              <a:t>Semantic Click</a:t>
            </a:r>
            <a:endParaRPr lang="en-US" sz="1350" dirty="0"/>
          </a:p>
        </p:txBody>
      </p:sp>
      <p:sp>
        <p:nvSpPr>
          <p:cNvPr id="105" name="Shape 105"/>
          <p:cNvSpPr/>
          <p:nvPr/>
        </p:nvSpPr>
        <p:spPr>
          <a:xfrm>
            <a:off x="5070871" y="1874520"/>
            <a:ext cx="1110343" cy="73152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000" b="1" i="0" spc="60" dirty="0">
                <a:solidFill>
                  <a:srgbClr val="6D28D9"/>
                </a:solidFill>
                <a:latin typeface="Calibri"/>
                <a:cs typeface="Calibri"/>
              </a:rPr>
              <a:t>M3</a:t>
            </a:r>
            <a:endParaRPr lang="en-US" sz="1000" dirty="0"/>
          </a:p>
          <a:p>
            <a:pPr marL="0" indent="0" algn="ctr">
              <a:spcAft>
                <a:spcPts val="0"/>
              </a:spcAft>
              <a:buNone/>
            </a:pPr>
            <a:r>
              <a:rPr lang="en-US" sz="1350" b="1" i="0" dirty="0">
                <a:solidFill>
                  <a:srgbClr val="14142B"/>
                </a:solidFill>
                <a:latin typeface="Calibri"/>
                <a:cs typeface="Calibri"/>
              </a:rPr>
              <a:t>Replay</a:t>
            </a:r>
            <a:endParaRPr lang="en-US" sz="1350" dirty="0"/>
          </a:p>
        </p:txBody>
      </p:sp>
      <p:sp>
        <p:nvSpPr>
          <p:cNvPr id="106" name="Shape 106"/>
          <p:cNvSpPr/>
          <p:nvPr/>
        </p:nvSpPr>
        <p:spPr>
          <a:xfrm>
            <a:off x="6318373" y="1874520"/>
            <a:ext cx="1110343" cy="73152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000" b="1" i="0" spc="60" dirty="0">
                <a:solidFill>
                  <a:srgbClr val="6D28D9"/>
                </a:solidFill>
                <a:latin typeface="Calibri"/>
                <a:cs typeface="Calibri"/>
              </a:rPr>
              <a:t>M4</a:t>
            </a:r>
            <a:endParaRPr lang="en-US" sz="1000" dirty="0"/>
          </a:p>
          <a:p>
            <a:pPr marL="0" indent="0" algn="ctr">
              <a:spcAft>
                <a:spcPts val="0"/>
              </a:spcAft>
              <a:buNone/>
            </a:pPr>
            <a:r>
              <a:rPr lang="en-US" sz="1350" b="1" i="0" dirty="0">
                <a:solidFill>
                  <a:srgbClr val="14142B"/>
                </a:solidFill>
                <a:latin typeface="Calibri"/>
                <a:cs typeface="Calibri"/>
              </a:rPr>
              <a:t>Multi-step Flow</a:t>
            </a:r>
            <a:endParaRPr lang="en-US" sz="1350" dirty="0"/>
          </a:p>
        </p:txBody>
      </p:sp>
      <p:sp>
        <p:nvSpPr>
          <p:cNvPr id="107" name="Shape 107"/>
          <p:cNvSpPr/>
          <p:nvPr/>
        </p:nvSpPr>
        <p:spPr>
          <a:xfrm>
            <a:off x="7565876" y="1874520"/>
            <a:ext cx="1110343" cy="73152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000" b="1" i="0" spc="60" dirty="0">
                <a:solidFill>
                  <a:srgbClr val="6D28D9"/>
                </a:solidFill>
                <a:latin typeface="Calibri"/>
                <a:cs typeface="Calibri"/>
              </a:rPr>
              <a:t>M5</a:t>
            </a:r>
            <a:endParaRPr lang="en-US" sz="1000" dirty="0"/>
          </a:p>
          <a:p>
            <a:pPr marL="0" indent="0" algn="ctr">
              <a:spcAft>
                <a:spcPts val="0"/>
              </a:spcAft>
              <a:buNone/>
            </a:pPr>
            <a:r>
              <a:rPr lang="en-US" sz="1350" b="1" i="0" dirty="0">
                <a:solidFill>
                  <a:srgbClr val="14142B"/>
                </a:solidFill>
                <a:latin typeface="Calibri"/>
                <a:cs typeface="Calibri"/>
              </a:rPr>
              <a:t>UI Changes</a:t>
            </a:r>
            <a:endParaRPr lang="en-US" sz="1350" dirty="0"/>
          </a:p>
        </p:txBody>
      </p:sp>
      <p:sp>
        <p:nvSpPr>
          <p:cNvPr id="108" name="Shape 108"/>
          <p:cNvSpPr/>
          <p:nvPr/>
        </p:nvSpPr>
        <p:spPr>
          <a:xfrm>
            <a:off x="8813379" y="1874520"/>
            <a:ext cx="1110343" cy="73152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000" b="1" i="0" spc="60" dirty="0">
                <a:solidFill>
                  <a:srgbClr val="6D28D9"/>
                </a:solidFill>
                <a:latin typeface="Calibri"/>
                <a:cs typeface="Calibri"/>
              </a:rPr>
              <a:t>M6</a:t>
            </a:r>
            <a:endParaRPr lang="en-US" sz="1000" dirty="0"/>
          </a:p>
          <a:p>
            <a:pPr marL="0" indent="0" algn="ctr">
              <a:spcAft>
                <a:spcPts val="0"/>
              </a:spcAft>
              <a:buNone/>
            </a:pPr>
            <a:r>
              <a:rPr lang="en-US" sz="1350" b="1" i="0" dirty="0">
                <a:solidFill>
                  <a:srgbClr val="14142B"/>
                </a:solidFill>
                <a:latin typeface="Calibri"/>
                <a:cs typeface="Calibri"/>
              </a:rPr>
              <a:t>Safety</a:t>
            </a:r>
            <a:endParaRPr lang="en-US" sz="1350" dirty="0"/>
          </a:p>
        </p:txBody>
      </p:sp>
      <p:sp>
        <p:nvSpPr>
          <p:cNvPr id="109" name="Shape 109"/>
          <p:cNvSpPr/>
          <p:nvPr/>
        </p:nvSpPr>
        <p:spPr>
          <a:xfrm>
            <a:off x="10060882" y="1874520"/>
            <a:ext cx="1110343" cy="73152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000" b="1" i="0" spc="60" dirty="0">
                <a:solidFill>
                  <a:srgbClr val="6D28D9"/>
                </a:solidFill>
                <a:latin typeface="Calibri"/>
                <a:cs typeface="Calibri"/>
              </a:rPr>
              <a:t>M7</a:t>
            </a:r>
            <a:endParaRPr lang="en-US" sz="1000" dirty="0"/>
          </a:p>
          <a:p>
            <a:pPr marL="0" indent="0" algn="ctr">
              <a:spcAft>
                <a:spcPts val="0"/>
              </a:spcAft>
              <a:buNone/>
            </a:pPr>
            <a:r>
              <a:rPr lang="en-US" sz="1350" b="1" i="0" dirty="0">
                <a:solidFill>
                  <a:srgbClr val="14142B"/>
                </a:solidFill>
                <a:latin typeface="Calibri"/>
                <a:cs typeface="Calibri"/>
              </a:rPr>
              <a:t>JSON Plan</a:t>
            </a:r>
            <a:endParaRPr lang="en-US" sz="1350" dirty="0"/>
          </a:p>
        </p:txBody>
      </p:sp>
      <p:sp>
        <p:nvSpPr>
          <p:cNvPr id="110" name="Shape 110"/>
          <p:cNvSpPr/>
          <p:nvPr/>
        </p:nvSpPr>
        <p:spPr>
          <a:xfrm>
            <a:off x="838505" y="2971800"/>
            <a:ext cx="10515600" cy="1097280"/>
          </a:xfrm>
          <a:prstGeom prst="roundRect">
            <a:avLst>
              <a:gd name="adj" fmla="val 6000"/>
            </a:avLst>
          </a:prstGeom>
          <a:solidFill>
            <a:srgbClr val="FAF8FE"/>
          </a:solidFill>
          <a:ln w="12700">
            <a:solidFill>
              <a:srgbClr val="D9D3F0"/>
            </a:solidFill>
          </a:ln>
        </p:spPr>
        <p:txBody>
          <a:bodyPr wrap="square" lIns="109728" tIns="65837" rIns="109728" bIns="65837" rtlCol="0" anchor="t">
            <a:normAutofit/>
          </a:bodyPr>
          <a:lstStyle/>
          <a:p>
            <a:endParaRPr lang="en-US"/>
          </a:p>
        </p:txBody>
      </p:sp>
      <p:sp>
        <p:nvSpPr>
          <p:cNvPr id="111" name="Shape 111"/>
          <p:cNvSpPr txBox="1"/>
          <p:nvPr/>
        </p:nvSpPr>
        <p:spPr>
          <a:xfrm>
            <a:off x="1021385" y="2971800"/>
            <a:ext cx="1371600" cy="1097280"/>
          </a:xfrm>
          <a:prstGeom prst="rect">
            <a:avLst/>
          </a:prstGeom>
          <a:noFill/>
          <a:ln>
            <a:noFill/>
          </a:ln>
        </p:spPr>
        <p:txBody>
          <a:bodyPr wrap="square" lIns="0" tIns="0" rIns="0" bIns="0" rtlCol="0" anchor="ctr">
            <a:normAutofit/>
          </a:bodyPr>
          <a:lstStyle/>
          <a:p>
            <a:pPr marL="0" indent="0" algn="l">
              <a:spcAft>
                <a:spcPts val="0"/>
              </a:spcAft>
              <a:buNone/>
            </a:pPr>
            <a:r>
              <a:rPr lang="en-US" sz="1100" b="1" i="0" spc="100" dirty="0">
                <a:solidFill>
                  <a:srgbClr val="6D28D9"/>
                </a:solidFill>
                <a:latin typeface="Calibri"/>
                <a:cs typeface="Calibri"/>
              </a:rPr>
              <a:t>GOOGLE CLOUD</a:t>
            </a:r>
            <a:endParaRPr lang="en-US" sz="1100" dirty="0"/>
          </a:p>
        </p:txBody>
      </p:sp>
      <p:sp>
        <p:nvSpPr>
          <p:cNvPr id="112" name="Shape 112"/>
          <p:cNvSpPr/>
          <p:nvPr/>
        </p:nvSpPr>
        <p:spPr>
          <a:xfrm>
            <a:off x="2575865" y="3154680"/>
            <a:ext cx="1318260" cy="73152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000" b="1" i="0" spc="60" dirty="0">
                <a:solidFill>
                  <a:srgbClr val="6D28D9"/>
                </a:solidFill>
                <a:latin typeface="Calibri"/>
                <a:cs typeface="Calibri"/>
              </a:rPr>
              <a:t>G1</a:t>
            </a:r>
            <a:endParaRPr lang="en-US" sz="1000" dirty="0"/>
          </a:p>
          <a:p>
            <a:pPr marL="0" indent="0" algn="ctr">
              <a:spcAft>
                <a:spcPts val="0"/>
              </a:spcAft>
              <a:buNone/>
            </a:pPr>
            <a:r>
              <a:rPr lang="en-US" sz="1350" b="1" i="0" dirty="0">
                <a:solidFill>
                  <a:srgbClr val="14142B"/>
                </a:solidFill>
                <a:latin typeface="Calibri"/>
                <a:cs typeface="Calibri"/>
              </a:rPr>
              <a:t>API</a:t>
            </a:r>
            <a:endParaRPr lang="en-US" sz="1350" dirty="0"/>
          </a:p>
        </p:txBody>
      </p:sp>
      <p:sp>
        <p:nvSpPr>
          <p:cNvPr id="113" name="Shape 113"/>
          <p:cNvSpPr/>
          <p:nvPr/>
        </p:nvSpPr>
        <p:spPr>
          <a:xfrm>
            <a:off x="4031285" y="3154680"/>
            <a:ext cx="1318260" cy="73152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000" b="1" i="0" spc="60" dirty="0">
                <a:solidFill>
                  <a:srgbClr val="6D28D9"/>
                </a:solidFill>
                <a:latin typeface="Calibri"/>
                <a:cs typeface="Calibri"/>
              </a:rPr>
              <a:t>G2</a:t>
            </a:r>
            <a:endParaRPr lang="en-US" sz="1000" dirty="0"/>
          </a:p>
          <a:p>
            <a:pPr marL="0" indent="0" algn="ctr">
              <a:spcAft>
                <a:spcPts val="0"/>
              </a:spcAft>
              <a:buNone/>
            </a:pPr>
            <a:r>
              <a:rPr lang="en-US" sz="1350" b="1" i="0" dirty="0">
                <a:solidFill>
                  <a:srgbClr val="14142B"/>
                </a:solidFill>
                <a:latin typeface="Calibri"/>
                <a:cs typeface="Calibri"/>
              </a:rPr>
              <a:t>Intent/Slots</a:t>
            </a:r>
            <a:endParaRPr lang="en-US" sz="1350" dirty="0"/>
          </a:p>
        </p:txBody>
      </p:sp>
      <p:sp>
        <p:nvSpPr>
          <p:cNvPr id="114" name="Shape 114"/>
          <p:cNvSpPr/>
          <p:nvPr/>
        </p:nvSpPr>
        <p:spPr>
          <a:xfrm>
            <a:off x="5486705" y="3154680"/>
            <a:ext cx="1318260" cy="73152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000" b="1" i="0" spc="60" dirty="0">
                <a:solidFill>
                  <a:srgbClr val="6D28D9"/>
                </a:solidFill>
                <a:latin typeface="Calibri"/>
                <a:cs typeface="Calibri"/>
              </a:rPr>
              <a:t>G3</a:t>
            </a:r>
            <a:endParaRPr lang="en-US" sz="1000" dirty="0"/>
          </a:p>
          <a:p>
            <a:pPr marL="0" indent="0" algn="ctr">
              <a:spcAft>
                <a:spcPts val="0"/>
              </a:spcAft>
              <a:buNone/>
            </a:pPr>
            <a:r>
              <a:rPr lang="en-US" sz="1350" b="1" i="0" dirty="0">
                <a:solidFill>
                  <a:srgbClr val="14142B"/>
                </a:solidFill>
                <a:latin typeface="Calibri"/>
                <a:cs typeface="Calibri"/>
              </a:rPr>
              <a:t>Generalization</a:t>
            </a:r>
            <a:endParaRPr lang="en-US" sz="1350" dirty="0"/>
          </a:p>
        </p:txBody>
      </p:sp>
      <p:sp>
        <p:nvSpPr>
          <p:cNvPr id="115" name="Shape 115"/>
          <p:cNvSpPr/>
          <p:nvPr/>
        </p:nvSpPr>
        <p:spPr>
          <a:xfrm>
            <a:off x="6942125" y="3154680"/>
            <a:ext cx="1318260" cy="73152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000" b="1" i="0" spc="60" dirty="0">
                <a:solidFill>
                  <a:srgbClr val="6D28D9"/>
                </a:solidFill>
                <a:latin typeface="Calibri"/>
                <a:cs typeface="Calibri"/>
              </a:rPr>
              <a:t>G4</a:t>
            </a:r>
            <a:endParaRPr lang="en-US" sz="1000" dirty="0"/>
          </a:p>
          <a:p>
            <a:pPr marL="0" indent="0" algn="ctr">
              <a:spcAft>
                <a:spcPts val="0"/>
              </a:spcAft>
              <a:buNone/>
            </a:pPr>
            <a:r>
              <a:rPr lang="en-US" sz="1350" b="1" i="0" dirty="0">
                <a:solidFill>
                  <a:srgbClr val="14142B"/>
                </a:solidFill>
                <a:latin typeface="Calibri"/>
                <a:cs typeface="Calibri"/>
              </a:rPr>
              <a:t>Matching</a:t>
            </a:r>
            <a:endParaRPr lang="en-US" sz="1350" dirty="0"/>
          </a:p>
        </p:txBody>
      </p:sp>
      <p:sp>
        <p:nvSpPr>
          <p:cNvPr id="116" name="Shape 116"/>
          <p:cNvSpPr/>
          <p:nvPr/>
        </p:nvSpPr>
        <p:spPr>
          <a:xfrm>
            <a:off x="8397545" y="3154680"/>
            <a:ext cx="1318260" cy="73152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000" b="1" i="0" spc="60" dirty="0">
                <a:solidFill>
                  <a:srgbClr val="6D28D9"/>
                </a:solidFill>
                <a:latin typeface="Calibri"/>
                <a:cs typeface="Calibri"/>
              </a:rPr>
              <a:t>G5</a:t>
            </a:r>
            <a:endParaRPr lang="en-US" sz="1000" dirty="0"/>
          </a:p>
          <a:p>
            <a:pPr marL="0" indent="0" algn="ctr">
              <a:spcAft>
                <a:spcPts val="0"/>
              </a:spcAft>
              <a:buNone/>
            </a:pPr>
            <a:r>
              <a:rPr lang="en-US" sz="1350" b="1" i="0" dirty="0">
                <a:solidFill>
                  <a:srgbClr val="14142B"/>
                </a:solidFill>
                <a:latin typeface="Calibri"/>
                <a:cs typeface="Calibri"/>
              </a:rPr>
              <a:t>Recovery</a:t>
            </a:r>
            <a:endParaRPr lang="en-US" sz="1350" dirty="0"/>
          </a:p>
        </p:txBody>
      </p:sp>
      <p:sp>
        <p:nvSpPr>
          <p:cNvPr id="117" name="Shape 117"/>
          <p:cNvSpPr/>
          <p:nvPr/>
        </p:nvSpPr>
        <p:spPr>
          <a:xfrm>
            <a:off x="9852965" y="3154680"/>
            <a:ext cx="1318260" cy="73152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000" b="1" i="0" spc="60" dirty="0">
                <a:solidFill>
                  <a:srgbClr val="6D28D9"/>
                </a:solidFill>
                <a:latin typeface="Calibri"/>
                <a:cs typeface="Calibri"/>
              </a:rPr>
              <a:t>G6</a:t>
            </a:r>
            <a:endParaRPr lang="en-US" sz="1000" dirty="0"/>
          </a:p>
          <a:p>
            <a:pPr marL="0" indent="0" algn="ctr">
              <a:spcAft>
                <a:spcPts val="0"/>
              </a:spcAft>
              <a:buNone/>
            </a:pPr>
            <a:r>
              <a:rPr lang="en-US" sz="1350" b="1" i="0" dirty="0">
                <a:solidFill>
                  <a:srgbClr val="14142B"/>
                </a:solidFill>
                <a:latin typeface="Calibri"/>
                <a:cs typeface="Calibri"/>
              </a:rPr>
              <a:t>Deployment</a:t>
            </a:r>
            <a:endParaRPr lang="en-US" sz="1350" dirty="0"/>
          </a:p>
        </p:txBody>
      </p:sp>
      <p:sp>
        <p:nvSpPr>
          <p:cNvPr id="118" name="Shape 118"/>
          <p:cNvSpPr/>
          <p:nvPr/>
        </p:nvSpPr>
        <p:spPr>
          <a:xfrm>
            <a:off x="838505" y="4251960"/>
            <a:ext cx="10515600" cy="1097280"/>
          </a:xfrm>
          <a:prstGeom prst="roundRect">
            <a:avLst>
              <a:gd name="adj" fmla="val 6000"/>
            </a:avLst>
          </a:prstGeom>
          <a:solidFill>
            <a:srgbClr val="FAF8FE"/>
          </a:solidFill>
          <a:ln w="12700">
            <a:solidFill>
              <a:srgbClr val="D9D3F0"/>
            </a:solidFill>
          </a:ln>
        </p:spPr>
        <p:txBody>
          <a:bodyPr wrap="square" lIns="109728" tIns="65837" rIns="109728" bIns="65837" rtlCol="0" anchor="t">
            <a:normAutofit/>
          </a:bodyPr>
          <a:lstStyle/>
          <a:p>
            <a:endParaRPr lang="en-US"/>
          </a:p>
        </p:txBody>
      </p:sp>
      <p:sp>
        <p:nvSpPr>
          <p:cNvPr id="119" name="Shape 119"/>
          <p:cNvSpPr txBox="1"/>
          <p:nvPr/>
        </p:nvSpPr>
        <p:spPr>
          <a:xfrm>
            <a:off x="1021385" y="4251960"/>
            <a:ext cx="1371600" cy="1097280"/>
          </a:xfrm>
          <a:prstGeom prst="rect">
            <a:avLst/>
          </a:prstGeom>
          <a:noFill/>
          <a:ln>
            <a:noFill/>
          </a:ln>
        </p:spPr>
        <p:txBody>
          <a:bodyPr wrap="square" lIns="0" tIns="0" rIns="0" bIns="0" rtlCol="0" anchor="ctr">
            <a:normAutofit/>
          </a:bodyPr>
          <a:lstStyle/>
          <a:p>
            <a:pPr marL="0" indent="0" algn="l">
              <a:spcAft>
                <a:spcPts val="0"/>
              </a:spcAft>
              <a:buNone/>
            </a:pPr>
            <a:r>
              <a:rPr lang="en-US" sz="1100" b="1" i="0" spc="100" dirty="0">
                <a:solidFill>
                  <a:srgbClr val="6D28D9"/>
                </a:solidFill>
                <a:latin typeface="Calibri"/>
                <a:cs typeface="Calibri"/>
              </a:rPr>
              <a:t>END-TO-END LOOP</a:t>
            </a:r>
            <a:endParaRPr lang="en-US" sz="1100" dirty="0"/>
          </a:p>
        </p:txBody>
      </p:sp>
      <p:sp>
        <p:nvSpPr>
          <p:cNvPr id="120" name="Shape 120"/>
          <p:cNvSpPr/>
          <p:nvPr/>
        </p:nvSpPr>
        <p:spPr>
          <a:xfrm>
            <a:off x="2575865" y="4434840"/>
            <a:ext cx="1318260" cy="73152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350" b="1" i="0" dirty="0">
                <a:solidFill>
                  <a:srgbClr val="14142B"/>
                </a:solidFill>
                <a:latin typeface="Calibri"/>
                <a:cs typeface="Calibri"/>
              </a:rPr>
              <a:t>Teach</a:t>
            </a:r>
            <a:endParaRPr lang="en-US" sz="1350" dirty="0"/>
          </a:p>
        </p:txBody>
      </p:sp>
      <p:sp>
        <p:nvSpPr>
          <p:cNvPr id="121" name="Shape 121"/>
          <p:cNvSpPr/>
          <p:nvPr/>
        </p:nvSpPr>
        <p:spPr>
          <a:xfrm>
            <a:off x="4031285" y="4434840"/>
            <a:ext cx="1318260" cy="73152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350" b="1" i="0" dirty="0">
                <a:solidFill>
                  <a:srgbClr val="14142B"/>
                </a:solidFill>
                <a:latin typeface="Calibri"/>
                <a:cs typeface="Calibri"/>
              </a:rPr>
              <a:t>Learn</a:t>
            </a:r>
            <a:endParaRPr lang="en-US" sz="1350" dirty="0"/>
          </a:p>
        </p:txBody>
      </p:sp>
      <p:sp>
        <p:nvSpPr>
          <p:cNvPr id="122" name="Shape 122"/>
          <p:cNvSpPr/>
          <p:nvPr/>
        </p:nvSpPr>
        <p:spPr>
          <a:xfrm>
            <a:off x="5486705" y="4434840"/>
            <a:ext cx="1318260" cy="73152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350" b="1" i="0" dirty="0">
                <a:solidFill>
                  <a:srgbClr val="14142B"/>
                </a:solidFill>
                <a:latin typeface="Calibri"/>
                <a:cs typeface="Calibri"/>
              </a:rPr>
              <a:t>Generalize</a:t>
            </a:r>
            <a:endParaRPr lang="en-US" sz="1350" dirty="0"/>
          </a:p>
        </p:txBody>
      </p:sp>
      <p:sp>
        <p:nvSpPr>
          <p:cNvPr id="123" name="Shape 123"/>
          <p:cNvSpPr/>
          <p:nvPr/>
        </p:nvSpPr>
        <p:spPr>
          <a:xfrm>
            <a:off x="6942125" y="4434840"/>
            <a:ext cx="1318260" cy="73152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350" b="1" i="0" dirty="0">
                <a:solidFill>
                  <a:srgbClr val="14142B"/>
                </a:solidFill>
                <a:latin typeface="Calibri"/>
                <a:cs typeface="Calibri"/>
              </a:rPr>
              <a:t>Replay</a:t>
            </a:r>
            <a:endParaRPr lang="en-US" sz="1350" dirty="0"/>
          </a:p>
        </p:txBody>
      </p:sp>
      <p:sp>
        <p:nvSpPr>
          <p:cNvPr id="124" name="Shape 124"/>
          <p:cNvSpPr/>
          <p:nvPr/>
        </p:nvSpPr>
        <p:spPr>
          <a:xfrm>
            <a:off x="8397545" y="4434840"/>
            <a:ext cx="1318260" cy="731520"/>
          </a:xfrm>
          <a:prstGeom prst="roundRect">
            <a:avLst>
              <a:gd name="adj" fmla="val 14000"/>
            </a:avLst>
          </a:prstGeom>
          <a:solidFill>
            <a:srgbClr val="F3EFFC"/>
          </a:solidFill>
          <a:ln w="12700">
            <a:solidFill>
              <a:srgbClr val="D9D3F0"/>
            </a:solidFill>
          </a:ln>
        </p:spPr>
        <p:txBody>
          <a:bodyPr wrap="square" lIns="54864" tIns="32918" rIns="54864" bIns="32918" rtlCol="0" anchor="ctr">
            <a:normAutofit/>
          </a:bodyPr>
          <a:lstStyle/>
          <a:p>
            <a:pPr marL="0" indent="0" algn="ctr">
              <a:spcAft>
                <a:spcPts val="0"/>
              </a:spcAft>
              <a:buNone/>
            </a:pPr>
            <a:r>
              <a:rPr lang="en-US" sz="1350" b="1" i="0" dirty="0">
                <a:solidFill>
                  <a:srgbClr val="14142B"/>
                </a:solidFill>
                <a:latin typeface="Calibri"/>
                <a:cs typeface="Calibri"/>
              </a:rPr>
              <a:t>Recover</a:t>
            </a:r>
            <a:endParaRPr lang="en-US" sz="1350" dirty="0"/>
          </a:p>
        </p:txBody>
      </p:sp>
      <p:sp>
        <p:nvSpPr>
          <p:cNvPr id="125" name="Shape 125"/>
          <p:cNvSpPr/>
          <p:nvPr/>
        </p:nvSpPr>
        <p:spPr>
          <a:xfrm>
            <a:off x="9852965" y="4434840"/>
            <a:ext cx="1318260" cy="731520"/>
          </a:xfrm>
          <a:prstGeom prst="roundRect">
            <a:avLst>
              <a:gd name="adj" fmla="val 14000"/>
            </a:avLst>
          </a:prstGeom>
          <a:solidFill>
            <a:srgbClr val="6D28D9"/>
          </a:solidFill>
          <a:ln w="12700">
            <a:solidFill>
              <a:srgbClr val="6D28D9"/>
            </a:solidFill>
          </a:ln>
        </p:spPr>
        <p:txBody>
          <a:bodyPr wrap="square" lIns="54864" tIns="32918" rIns="54864" bIns="32918" rtlCol="0" anchor="ctr">
            <a:normAutofit/>
          </a:bodyPr>
          <a:lstStyle/>
          <a:p>
            <a:pPr marL="0" indent="0" algn="ctr">
              <a:spcAft>
                <a:spcPts val="0"/>
              </a:spcAft>
              <a:buNone/>
            </a:pPr>
            <a:r>
              <a:rPr lang="en-US" sz="1350" b="1" i="0" dirty="0">
                <a:solidFill>
                  <a:srgbClr val="FFFFFF"/>
                </a:solidFill>
                <a:latin typeface="Calibri"/>
                <a:cs typeface="Calibri"/>
              </a:rPr>
              <a:t>Safe Execution</a:t>
            </a:r>
            <a:endParaRPr lang="en-US" sz="1350" dirty="0"/>
          </a:p>
        </p:txBody>
      </p:sp>
      <p:sp>
        <p:nvSpPr>
          <p:cNvPr id="126" name="Shape 126"/>
          <p:cNvSpPr txBox="1"/>
          <p:nvPr/>
        </p:nvSpPr>
        <p:spPr>
          <a:xfrm>
            <a:off x="838505" y="5623560"/>
            <a:ext cx="10515600" cy="548640"/>
          </a:xfrm>
          <a:prstGeom prst="rect">
            <a:avLst/>
          </a:prstGeom>
          <a:noFill/>
          <a:ln>
            <a:noFill/>
          </a:ln>
        </p:spPr>
        <p:txBody>
          <a:bodyPr wrap="square" lIns="109728" tIns="65837" rIns="109728" bIns="65837" rtlCol="0" anchor="ctr">
            <a:normAutofit/>
          </a:bodyPr>
          <a:lstStyle/>
          <a:p>
            <a:pPr marL="0" indent="0" algn="ctr">
              <a:spcAft>
                <a:spcPts val="0"/>
              </a:spcAft>
              <a:buNone/>
            </a:pPr>
            <a:r>
              <a:rPr lang="en-US" sz="1800" b="0" i="1" dirty="0">
                <a:solidFill>
                  <a:srgbClr val="6D28D9"/>
                </a:solidFill>
                <a:latin typeface="Calibri"/>
                <a:cs typeface="Calibri"/>
              </a:rPr>
              <a:t>“An assistant that learns how YOU perform a task, understands what it means, and safely performs it again.”</a:t>
            </a:r>
            <a:endParaRPr lang="en-US" sz="1800" dirty="0"/>
          </a:p>
        </p:txBody>
      </p:sp>
    </p:spTree>
    <p:extLst>
      <p:ext uri="{BB962C8B-B14F-4D97-AF65-F5344CB8AC3E}">
        <p14:creationId xmlns:p14="http://schemas.microsoft.com/office/powerpoint/2010/main" val="3985914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Brownie points slide( differentiation)</a:t>
            </a:r>
            <a:endParaRPr lang="en-US" sz="4400" b="1" dirty="0">
              <a:solidFill>
                <a:srgbClr val="704EA6"/>
              </a:solidFill>
            </a:endParaRPr>
          </a:p>
        </p:txBody>
      </p:sp>
      <p:sp>
        <p:nvSpPr>
          <p:cNvPr id="101" name="Shape 101"/>
          <p:cNvSpPr/>
          <p:nvPr/>
        </p:nvSpPr>
        <p:spPr>
          <a:xfrm>
            <a:off x="838505" y="1691640"/>
            <a:ext cx="3383280" cy="2103120"/>
          </a:xfrm>
          <a:prstGeom prst="roundRect">
            <a:avLst>
              <a:gd name="adj" fmla="val 5000"/>
            </a:avLst>
          </a:prstGeom>
          <a:solidFill>
            <a:srgbClr val="F3EFFC"/>
          </a:solidFill>
          <a:ln w="12700">
            <a:solidFill>
              <a:srgbClr val="D9D3F0"/>
            </a:solidFill>
          </a:ln>
        </p:spPr>
        <p:txBody>
          <a:bodyPr wrap="square" lIns="164592" tIns="98755" rIns="164592" bIns="98755" rtlCol="0" anchor="t">
            <a:normAutofit/>
          </a:bodyPr>
          <a:lstStyle/>
          <a:p>
            <a:pPr marL="0" indent="0" algn="l">
              <a:spcAft>
                <a:spcPts val="300"/>
              </a:spcAft>
              <a:buNone/>
            </a:pPr>
            <a:r>
              <a:rPr lang="en-US" sz="1100" b="1" i="0" spc="100" dirty="0">
                <a:solidFill>
                  <a:srgbClr val="6D28D9"/>
                </a:solidFill>
                <a:latin typeface="Calibri"/>
                <a:cs typeface="Calibri"/>
              </a:rPr>
              <a:t>01</a:t>
            </a:r>
            <a:endParaRPr lang="en-US" sz="1100" dirty="0"/>
          </a:p>
          <a:p>
            <a:pPr marL="0" indent="0" algn="l">
              <a:spcAft>
                <a:spcPts val="600"/>
              </a:spcAft>
              <a:buNone/>
            </a:pPr>
            <a:r>
              <a:rPr lang="en-US" sz="2100" b="1" i="0" dirty="0">
                <a:solidFill>
                  <a:srgbClr val="14142B"/>
                </a:solidFill>
                <a:latin typeface="Calibri"/>
                <a:cs typeface="Calibri"/>
              </a:rPr>
              <a:t>Taught live</a:t>
            </a:r>
            <a:endParaRPr lang="en-US" sz="2100" dirty="0"/>
          </a:p>
          <a:p>
            <a:pPr marL="0" indent="0" algn="l">
              <a:spcAft>
                <a:spcPts val="0"/>
              </a:spcAft>
              <a:buNone/>
            </a:pPr>
            <a:r>
              <a:rPr lang="en-US" sz="1600" b="0" i="0" dirty="0">
                <a:solidFill>
                  <a:srgbClr val="63637E"/>
                </a:solidFill>
                <a:latin typeface="Calibri"/>
                <a:cs typeface="Calibri"/>
              </a:rPr>
              <a:t>No prebaked scripts. Nothing app-specific: no deep links, no web fallbacks.</a:t>
            </a:r>
            <a:endParaRPr lang="en-US" sz="1600" dirty="0"/>
          </a:p>
        </p:txBody>
      </p:sp>
      <p:sp>
        <p:nvSpPr>
          <p:cNvPr id="102" name="Shape 102"/>
          <p:cNvSpPr/>
          <p:nvPr/>
        </p:nvSpPr>
        <p:spPr>
          <a:xfrm>
            <a:off x="4404665" y="1691640"/>
            <a:ext cx="3383280" cy="2103120"/>
          </a:xfrm>
          <a:prstGeom prst="roundRect">
            <a:avLst>
              <a:gd name="adj" fmla="val 5000"/>
            </a:avLst>
          </a:prstGeom>
          <a:solidFill>
            <a:srgbClr val="F3EFFC"/>
          </a:solidFill>
          <a:ln w="12700">
            <a:solidFill>
              <a:srgbClr val="D9D3F0"/>
            </a:solidFill>
          </a:ln>
        </p:spPr>
        <p:txBody>
          <a:bodyPr wrap="square" lIns="164592" tIns="98755" rIns="164592" bIns="98755" rtlCol="0" anchor="t">
            <a:normAutofit/>
          </a:bodyPr>
          <a:lstStyle/>
          <a:p>
            <a:pPr marL="0" indent="0" algn="l">
              <a:spcAft>
                <a:spcPts val="300"/>
              </a:spcAft>
              <a:buNone/>
            </a:pPr>
            <a:r>
              <a:rPr lang="en-US" sz="1100" b="1" i="0" spc="100" dirty="0">
                <a:solidFill>
                  <a:srgbClr val="6D28D9"/>
                </a:solidFill>
                <a:latin typeface="Calibri"/>
                <a:cs typeface="Calibri"/>
              </a:rPr>
              <a:t>02</a:t>
            </a:r>
            <a:endParaRPr lang="en-US" sz="1100" dirty="0"/>
          </a:p>
          <a:p>
            <a:pPr marL="0" indent="0" algn="l">
              <a:spcAft>
                <a:spcPts val="600"/>
              </a:spcAft>
              <a:buNone/>
            </a:pPr>
            <a:r>
              <a:rPr lang="en-US" sz="2100" b="1" i="0" dirty="0">
                <a:solidFill>
                  <a:srgbClr val="14142B"/>
                </a:solidFill>
                <a:latin typeface="Calibri"/>
                <a:cs typeface="Calibri"/>
              </a:rPr>
              <a:t>Semantic, not coordinates</a:t>
            </a:r>
            <a:endParaRPr lang="en-US" sz="2100" dirty="0"/>
          </a:p>
          <a:p>
            <a:pPr marL="0" indent="0" algn="l">
              <a:spcAft>
                <a:spcPts val="0"/>
              </a:spcAft>
              <a:buNone/>
            </a:pPr>
            <a:r>
              <a:rPr lang="en-US" sz="1600" b="0" i="0" dirty="0">
                <a:solidFill>
                  <a:srgbClr val="63637E"/>
                </a:solidFill>
                <a:latin typeface="Calibri"/>
                <a:cs typeface="Calibri"/>
              </a:rPr>
              <a:t>Resolver: resource ID, text, content description, structure, then ask the user. Coordinates last.</a:t>
            </a:r>
            <a:endParaRPr lang="en-US" sz="1600" dirty="0"/>
          </a:p>
        </p:txBody>
      </p:sp>
      <p:sp>
        <p:nvSpPr>
          <p:cNvPr id="103" name="Shape 103"/>
          <p:cNvSpPr/>
          <p:nvPr/>
        </p:nvSpPr>
        <p:spPr>
          <a:xfrm>
            <a:off x="7970825" y="1691640"/>
            <a:ext cx="3383280" cy="2103120"/>
          </a:xfrm>
          <a:prstGeom prst="roundRect">
            <a:avLst>
              <a:gd name="adj" fmla="val 5000"/>
            </a:avLst>
          </a:prstGeom>
          <a:solidFill>
            <a:srgbClr val="F3EFFC"/>
          </a:solidFill>
          <a:ln w="12700">
            <a:solidFill>
              <a:srgbClr val="D9D3F0"/>
            </a:solidFill>
          </a:ln>
        </p:spPr>
        <p:txBody>
          <a:bodyPr wrap="square" lIns="164592" tIns="98755" rIns="164592" bIns="98755" rtlCol="0" anchor="t">
            <a:normAutofit/>
          </a:bodyPr>
          <a:lstStyle/>
          <a:p>
            <a:pPr marL="0" indent="0" algn="l">
              <a:spcAft>
                <a:spcPts val="300"/>
              </a:spcAft>
              <a:buNone/>
            </a:pPr>
            <a:r>
              <a:rPr lang="en-US" sz="1100" b="1" i="0" spc="100" dirty="0">
                <a:solidFill>
                  <a:srgbClr val="6D28D9"/>
                </a:solidFill>
                <a:latin typeface="Calibri"/>
                <a:cs typeface="Calibri"/>
              </a:rPr>
              <a:t>03</a:t>
            </a:r>
            <a:endParaRPr lang="en-US" sz="1100" dirty="0"/>
          </a:p>
          <a:p>
            <a:pPr marL="0" indent="0" algn="l">
              <a:spcAft>
                <a:spcPts val="600"/>
              </a:spcAft>
              <a:buNone/>
            </a:pPr>
            <a:r>
              <a:rPr lang="en-US" sz="2100" b="1" i="0" dirty="0">
                <a:solidFill>
                  <a:srgbClr val="14142B"/>
                </a:solidFill>
                <a:latin typeface="Calibri"/>
                <a:cs typeface="Calibri"/>
              </a:rPr>
              <a:t>LLM ≠ phone control</a:t>
            </a:r>
            <a:endParaRPr lang="en-US" sz="2100" dirty="0"/>
          </a:p>
          <a:p>
            <a:pPr marL="0" indent="0" algn="l">
              <a:spcAft>
                <a:spcPts val="0"/>
              </a:spcAft>
              <a:buNone/>
            </a:pPr>
            <a:r>
              <a:rPr lang="en-US" sz="1600" b="0" i="0" dirty="0">
                <a:solidFill>
                  <a:srgbClr val="63637E"/>
                </a:solidFill>
                <a:latin typeface="Calibri"/>
                <a:cs typeface="Calibri"/>
              </a:rPr>
              <a:t>Cloud returns a schema-validated JSON plan; Android checks it and decides whether to act.</a:t>
            </a:r>
            <a:endParaRPr lang="en-US" sz="1600" dirty="0"/>
          </a:p>
        </p:txBody>
      </p:sp>
      <p:sp>
        <p:nvSpPr>
          <p:cNvPr id="104" name="Shape 104"/>
          <p:cNvSpPr/>
          <p:nvPr/>
        </p:nvSpPr>
        <p:spPr>
          <a:xfrm>
            <a:off x="838505" y="3977640"/>
            <a:ext cx="3383280" cy="2103120"/>
          </a:xfrm>
          <a:prstGeom prst="roundRect">
            <a:avLst>
              <a:gd name="adj" fmla="val 5000"/>
            </a:avLst>
          </a:prstGeom>
          <a:solidFill>
            <a:srgbClr val="F3EFFC"/>
          </a:solidFill>
          <a:ln w="12700">
            <a:solidFill>
              <a:srgbClr val="D9D3F0"/>
            </a:solidFill>
          </a:ln>
        </p:spPr>
        <p:txBody>
          <a:bodyPr wrap="square" lIns="164592" tIns="98755" rIns="164592" bIns="98755" rtlCol="0" anchor="t">
            <a:normAutofit/>
          </a:bodyPr>
          <a:lstStyle/>
          <a:p>
            <a:pPr marL="0" indent="0" algn="l">
              <a:spcAft>
                <a:spcPts val="300"/>
              </a:spcAft>
              <a:buNone/>
            </a:pPr>
            <a:r>
              <a:rPr lang="en-US" sz="1100" b="1" i="0" spc="100" dirty="0">
                <a:solidFill>
                  <a:srgbClr val="6D28D9"/>
                </a:solidFill>
                <a:latin typeface="Calibri"/>
                <a:cs typeface="Calibri"/>
              </a:rPr>
              <a:t>04</a:t>
            </a:r>
            <a:endParaRPr lang="en-US" sz="1100" dirty="0"/>
          </a:p>
          <a:p>
            <a:pPr marL="0" indent="0" algn="l">
              <a:spcAft>
                <a:spcPts val="600"/>
              </a:spcAft>
              <a:buNone/>
            </a:pPr>
            <a:r>
              <a:rPr lang="en-US" sz="2100" b="1" i="0" dirty="0">
                <a:solidFill>
                  <a:srgbClr val="14142B"/>
                </a:solidFill>
                <a:latin typeface="Calibri"/>
                <a:cs typeface="Calibri"/>
              </a:rPr>
              <a:t>Replay that recovers</a:t>
            </a:r>
            <a:endParaRPr lang="en-US" sz="2100" dirty="0"/>
          </a:p>
          <a:p>
            <a:pPr marL="0" indent="0" algn="l">
              <a:spcAft>
                <a:spcPts val="0"/>
              </a:spcAft>
              <a:buNone/>
            </a:pPr>
            <a:r>
              <a:rPr lang="en-US" sz="1600" b="0" i="0" dirty="0">
                <a:solidFill>
                  <a:srgbClr val="63637E"/>
                </a:solidFill>
                <a:latin typeface="Calibri"/>
                <a:cs typeface="Calibri"/>
              </a:rPr>
              <a:t>Inspect, resolve, execute, wait, verify. Handles layout changes, popups, missing or ambiguous targets.</a:t>
            </a:r>
            <a:endParaRPr lang="en-US" sz="1600" dirty="0"/>
          </a:p>
        </p:txBody>
      </p:sp>
      <p:sp>
        <p:nvSpPr>
          <p:cNvPr id="105" name="Shape 105"/>
          <p:cNvSpPr/>
          <p:nvPr/>
        </p:nvSpPr>
        <p:spPr>
          <a:xfrm>
            <a:off x="4404665" y="3977640"/>
            <a:ext cx="3383280" cy="2103120"/>
          </a:xfrm>
          <a:prstGeom prst="roundRect">
            <a:avLst>
              <a:gd name="adj" fmla="val 5000"/>
            </a:avLst>
          </a:prstGeom>
          <a:solidFill>
            <a:srgbClr val="F3EFFC"/>
          </a:solidFill>
          <a:ln w="12700">
            <a:solidFill>
              <a:srgbClr val="D9D3F0"/>
            </a:solidFill>
          </a:ln>
        </p:spPr>
        <p:txBody>
          <a:bodyPr wrap="square" lIns="164592" tIns="98755" rIns="164592" bIns="98755" rtlCol="0" anchor="t">
            <a:normAutofit/>
          </a:bodyPr>
          <a:lstStyle/>
          <a:p>
            <a:pPr marL="0" indent="0" algn="l">
              <a:spcAft>
                <a:spcPts val="300"/>
              </a:spcAft>
              <a:buNone/>
            </a:pPr>
            <a:r>
              <a:rPr lang="en-US" sz="1100" b="1" i="0" spc="100" dirty="0">
                <a:solidFill>
                  <a:srgbClr val="6D28D9"/>
                </a:solidFill>
                <a:latin typeface="Calibri"/>
                <a:cs typeface="Calibri"/>
              </a:rPr>
              <a:t>05</a:t>
            </a:r>
            <a:endParaRPr lang="en-US" sz="1100" dirty="0"/>
          </a:p>
          <a:p>
            <a:pPr marL="0" indent="0" algn="l">
              <a:spcAft>
                <a:spcPts val="600"/>
              </a:spcAft>
              <a:buNone/>
            </a:pPr>
            <a:r>
              <a:rPr lang="en-US" sz="2100" b="1" i="0" dirty="0">
                <a:solidFill>
                  <a:srgbClr val="14142B"/>
                </a:solidFill>
                <a:latin typeface="Calibri"/>
                <a:cs typeface="Calibri"/>
              </a:rPr>
              <a:t>Hard safety boundary</a:t>
            </a:r>
            <a:endParaRPr lang="en-US" sz="2100" dirty="0"/>
          </a:p>
          <a:p>
            <a:pPr marL="0" indent="0" algn="l">
              <a:spcAft>
                <a:spcPts val="0"/>
              </a:spcAft>
              <a:buNone/>
            </a:pPr>
            <a:r>
              <a:rPr lang="en-US" sz="1600" b="0" i="0" dirty="0">
                <a:solidFill>
                  <a:srgbClr val="63637E"/>
                </a:solidFill>
                <a:latin typeface="Calibri"/>
                <a:cs typeface="Calibri"/>
              </a:rPr>
              <a:t>Payment, OTP, password, PIN and auth screens stop automation. Credentials are never stored.</a:t>
            </a:r>
            <a:endParaRPr lang="en-US" sz="1600" dirty="0"/>
          </a:p>
        </p:txBody>
      </p:sp>
      <p:sp>
        <p:nvSpPr>
          <p:cNvPr id="106" name="Shape 106"/>
          <p:cNvSpPr/>
          <p:nvPr/>
        </p:nvSpPr>
        <p:spPr>
          <a:xfrm>
            <a:off x="7970825" y="3977640"/>
            <a:ext cx="3383280" cy="2103120"/>
          </a:xfrm>
          <a:prstGeom prst="roundRect">
            <a:avLst>
              <a:gd name="adj" fmla="val 5000"/>
            </a:avLst>
          </a:prstGeom>
          <a:solidFill>
            <a:srgbClr val="F3EFFC"/>
          </a:solidFill>
          <a:ln w="12700">
            <a:solidFill>
              <a:srgbClr val="D9D3F0"/>
            </a:solidFill>
          </a:ln>
        </p:spPr>
        <p:txBody>
          <a:bodyPr wrap="square" lIns="164592" tIns="98755" rIns="164592" bIns="98755" rtlCol="0" anchor="t">
            <a:normAutofit/>
          </a:bodyPr>
          <a:lstStyle/>
          <a:p>
            <a:pPr marL="0" indent="0" algn="l">
              <a:spcAft>
                <a:spcPts val="300"/>
              </a:spcAft>
              <a:buNone/>
            </a:pPr>
            <a:r>
              <a:rPr lang="en-US" sz="1100" b="1" i="0" spc="100" dirty="0">
                <a:solidFill>
                  <a:srgbClr val="6D28D9"/>
                </a:solidFill>
                <a:latin typeface="Calibri"/>
                <a:cs typeface="Calibri"/>
              </a:rPr>
              <a:t>06</a:t>
            </a:r>
            <a:endParaRPr lang="en-US" sz="1100" dirty="0"/>
          </a:p>
          <a:p>
            <a:pPr marL="0" indent="0" algn="l">
              <a:spcAft>
                <a:spcPts val="600"/>
              </a:spcAft>
              <a:buNone/>
            </a:pPr>
            <a:r>
              <a:rPr lang="en-US" sz="2100" b="1" i="0" dirty="0">
                <a:solidFill>
                  <a:srgbClr val="14142B"/>
                </a:solidFill>
                <a:latin typeface="Calibri"/>
                <a:cs typeface="Calibri"/>
              </a:rPr>
              <a:t>One flow, new values</a:t>
            </a:r>
            <a:endParaRPr lang="en-US" sz="2100" dirty="0"/>
          </a:p>
          <a:p>
            <a:pPr marL="0" indent="0" algn="l">
              <a:spcAft>
                <a:spcPts val="0"/>
              </a:spcAft>
              <a:buNone/>
            </a:pPr>
            <a:r>
              <a:rPr lang="en-US" sz="1600" b="0" i="0" dirty="0">
                <a:solidFill>
                  <a:srgbClr val="63637E"/>
                </a:solidFill>
                <a:latin typeface="Calibri"/>
                <a:cs typeface="Calibri"/>
              </a:rPr>
              <a:t>Slots like {{item}}, {{restaurant}}, {{quantity}} let one demonstration serve many requests.</a:t>
            </a:r>
            <a:endParaRPr lang="en-US" sz="1600" dirty="0"/>
          </a:p>
        </p:txBody>
      </p:sp>
    </p:spTree>
    <p:extLst>
      <p:ext uri="{BB962C8B-B14F-4D97-AF65-F5344CB8AC3E}">
        <p14:creationId xmlns:p14="http://schemas.microsoft.com/office/powerpoint/2010/main" val="209551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28A-8ABF-4E15-B9E1-B0F49C0EE29F}"/>
              </a:ext>
            </a:extLst>
          </p:cNvPr>
          <p:cNvSpPr>
            <a:spLocks noGrp="1"/>
          </p:cNvSpPr>
          <p:nvPr>
            <p:ph type="title"/>
          </p:nvPr>
        </p:nvSpPr>
        <p:spPr/>
        <p:txBody>
          <a:bodyPr/>
          <a:lstStyle/>
          <a:p>
            <a:r>
              <a:rPr lang="en-IN" b="1" dirty="0">
                <a:solidFill>
                  <a:srgbClr val="704EA6"/>
                </a:solidFill>
                <a:latin typeface="+mn-lt"/>
              </a:rPr>
              <a:t>Checklist- Updated on Public GitHub</a:t>
            </a:r>
          </a:p>
        </p:txBody>
      </p:sp>
      <p:sp>
        <p:nvSpPr>
          <p:cNvPr id="3" name="Content Placeholder 2">
            <a:extLst>
              <a:ext uri="{FF2B5EF4-FFF2-40B4-BE49-F238E27FC236}">
                <a16:creationId xmlns:a16="http://schemas.microsoft.com/office/drawing/2014/main" id="{DAB3E6F6-9D00-4480-90E6-EC3C876F2628}"/>
              </a:ext>
            </a:extLst>
          </p:cNvPr>
          <p:cNvSpPr>
            <a:spLocks noGrp="1"/>
          </p:cNvSpPr>
          <p:nvPr>
            <p:ph idx="1"/>
          </p:nvPr>
        </p:nvSpPr>
        <p:spPr/>
        <p:txBody>
          <a:bodyPr/>
          <a:lstStyle/>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Working prototype code — public or shared GitHub repo (Y/N)- Y</a:t>
            </a:r>
            <a:endParaRPr lang="en-US" sz="2800" dirty="0"/>
          </a:p>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README with reproducible setup instructions (Y/N)</a:t>
            </a:r>
            <a:r>
              <a:rPr lang="en-US" dirty="0">
                <a:solidFill>
                  <a:srgbClr val="63637E"/>
                </a:solidFill>
                <a:latin typeface="Calibri" pitchFamily="34" charset="0"/>
                <a:ea typeface="Calibri" pitchFamily="34" charset="-122"/>
                <a:cs typeface="Calibri" pitchFamily="34" charset="-120"/>
              </a:rPr>
              <a:t>- Y</a:t>
            </a:r>
            <a:endParaRPr lang="en-US" sz="2800" dirty="0"/>
          </a:p>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Demo video, max 5 minutes (YouTube or Drive link)- Y</a:t>
            </a:r>
            <a:endParaRPr lang="en-US" sz="2800" dirty="0"/>
          </a:p>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Presentation file (PPT or PDF) (Y/N)- Y</a:t>
            </a:r>
            <a:endParaRPr lang="en-US" sz="2800" dirty="0"/>
          </a:p>
          <a:p>
            <a:pPr marL="0" indent="0">
              <a:buNone/>
            </a:pPr>
            <a:endParaRPr lang="en-IN" dirty="0"/>
          </a:p>
        </p:txBody>
      </p:sp>
    </p:spTree>
    <p:extLst>
      <p:ext uri="{BB962C8B-B14F-4D97-AF65-F5344CB8AC3E}">
        <p14:creationId xmlns:p14="http://schemas.microsoft.com/office/powerpoint/2010/main" val="18069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46181" y="3730214"/>
            <a:ext cx="6766560" cy="868680"/>
          </a:xfrm>
          <a:prstGeom prst="rect">
            <a:avLst/>
          </a:prstGeom>
          <a:noFill/>
          <a:ln/>
        </p:spPr>
        <p:txBody>
          <a:bodyPr wrap="square" lIns="0" tIns="0" rIns="0" bIns="0" rtlCol="0" anchor="ctr"/>
          <a:lstStyle/>
          <a:p>
            <a:pPr marL="0" indent="0">
              <a:buNone/>
            </a:pPr>
            <a:r>
              <a:rPr lang="en-US" sz="4600" b="1" dirty="0">
                <a:solidFill>
                  <a:srgbClr val="14142B"/>
                </a:solidFill>
                <a:latin typeface="Arial" pitchFamily="34" charset="0"/>
                <a:ea typeface="Arial" pitchFamily="34" charset="-122"/>
                <a:cs typeface="Arial" pitchFamily="34" charset="-120"/>
              </a:rPr>
              <a:t>Thank you</a:t>
            </a:r>
            <a:endParaRPr lang="en-US" sz="4600" dirty="0"/>
          </a:p>
        </p:txBody>
      </p:sp>
      <p:sp>
        <p:nvSpPr>
          <p:cNvPr id="28" name="Text 25"/>
          <p:cNvSpPr txBox="1"/>
          <p:nvPr/>
        </p:nvSpPr>
        <p:spPr>
          <a:xfrm>
            <a:off x="777240" y="5897880"/>
            <a:ext cx="10607040" cy="292608"/>
          </a:xfrm>
          <a:prstGeom prst="rect">
            <a:avLst/>
          </a:prstGeom>
          <a:noFill/>
          <a:ln/>
        </p:spPr>
        <p:txBody>
          <a:bodyPr wrap="square" lIns="0" tIns="0" rIns="0" bIns="0" rtlCol="0" anchor="ctr"/>
          <a:lstStyle/>
          <a:p>
            <a:pPr marL="0" indent="0">
              <a:buNone/>
            </a:pPr>
            <a:r>
              <a:rPr lang="en-US" sz="1100" dirty="0">
                <a:solidFill>
                  <a:srgbClr val="63637E"/>
                </a:solidFill>
                <a:latin typeface="Calibri" pitchFamily="34" charset="0"/>
                <a:ea typeface="Calibri" pitchFamily="34" charset="-122"/>
                <a:cs typeface="Calibri" pitchFamily="34" charset="-120"/>
              </a:rPr>
              <a:t>Organised by the Language AI Team and the PRISM Team, Samsung R&amp;D Institute India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71</TotalTime>
  <Words>1861</Words>
  <Application>Microsoft Office PowerPoint</Application>
  <PresentationFormat>Widescreen</PresentationFormat>
  <Paragraphs>221</Paragraphs>
  <Slides>12</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Consolas</vt:lpstr>
      <vt:lpstr>Office Theme</vt:lpstr>
      <vt:lpstr>PowerPoint Presentation</vt:lpstr>
      <vt:lpstr>Theme</vt:lpstr>
      <vt:lpstr>Existing Solutions &amp; Gaps</vt:lpstr>
      <vt:lpstr>Our Solutions &amp; Architecture Diagram</vt:lpstr>
      <vt:lpstr>Demo &amp; Product Walkthrough</vt:lpstr>
      <vt:lpstr>Tools and tech stack used</vt:lpstr>
      <vt:lpstr>Impact &amp; Use case</vt:lpstr>
      <vt:lpstr>Innovation highlights, results and limitations</vt:lpstr>
      <vt:lpstr>What’s next</vt:lpstr>
      <vt:lpstr>Brownie points slide( 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Binny Lakra/PRISM /SRI-Bangalore/Professional/Samsung Electronics</dc:creator>
  <cp:lastModifiedBy>Harish Kumar Rai</cp:lastModifiedBy>
  <cp:revision>7</cp:revision>
  <dcterms:created xsi:type="dcterms:W3CDTF">2026-09-07T12:01:01Z</dcterms:created>
  <dcterms:modified xsi:type="dcterms:W3CDTF">2026-09-30T17:03:03Z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